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FA5F5-4249-47CF-A915-019DC65B1C8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E40EB-7A4B-4D55-9929-8AB734E85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5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WattWise AI project presentation. The cover is a conceptual illustration, not a photograph of a real home or appliance.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E40EB-7A4B-4D55-9929-8AB734E85F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25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 member names and student IDs were provided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E40EB-7A4B-4D55-9929-8AB734E85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63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UCI Machine Learning Repository, Appliances Energy Prediction. Candanedo, Feldheim &amp; Deramaix (2017), Energy and Buildings, DOI: 10.1016/j.enbuild.2017.01.083. Dataset facts are from the inspected source CSV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E40EB-7A4B-4D55-9929-8AB734E85F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56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C436-3CB0-A236-00DA-2B9E0B643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E338-F14C-1B41-4660-A27E3F40A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0C48D-2588-E7BC-7F37-3FFBF85D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E6CFF-5715-3DD2-32A2-B930960B2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06667-40ED-298A-F928-9D9F5BFAC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0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0155-3DAF-A524-B13B-BE6DD6DE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EBB4-3415-1CBD-B8EC-34F0B8C22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744CB-FD24-7C6A-EEA6-88151082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FB05D-B848-6AB4-D535-C09A8EED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5DBF7-FBC6-CF4A-FA25-3BD507B5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8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1ACF-B240-9143-A802-13E5907A1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4411F-C435-3D95-C0B8-5A3D112DC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2EF19-D21C-34D0-E156-70041C48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EE78C-3356-84E1-0CF8-26D74EE3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3A12B-5628-6761-3595-95AEC6F1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0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3469-4679-846B-3252-20FC1527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55BF-9A8D-FD8A-8F5E-2F95AC91D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6E00C-1F8C-437B-BE0B-5BD9F1FB2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678D0-4D4E-3901-DD4D-1191E8FF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EB034-7390-CFF1-8B20-38682C25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7A016-1187-02F3-0A82-48C5F777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9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5CEE-097D-E6F8-8773-8A22CB48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D4D11-40C9-C942-4094-269CF885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2808C-7AB3-C0E2-70E5-970FDDA42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EE676-6745-F641-BCFD-D861E74F5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1E856-459B-2486-73A7-40FB08ECE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2981F2-DAA6-2B0E-1A20-F1FEE6F3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021D9-FA25-5617-8716-DDE7CD79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3AE13-5DC8-EF63-EE9F-62D706CF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51F4-4D80-7AA5-76FA-ED3F384D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4E479-1754-C044-2764-8C8FEB74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B94A4-8F11-AEAE-B32F-7D1003F5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A6A89-0750-D499-6440-FED087EC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3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8143B-789B-11F6-9684-E8B1AF7F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F74C9-905A-F544-2D14-64F85937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C1FBD-86A2-F748-EC1D-3A582486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5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EEE2-8455-4ED3-11A7-40C10938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347C-630A-ADAD-579C-4DC467E7D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0F6B4-6CD0-F759-2F6C-2B42B959D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EA181-BA49-DD93-0ECB-B75ED3A0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7EB0E-C96C-EF1B-F6A0-141D5F87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FBACC-3909-0747-22C1-7407A56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75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9A2C-20CA-6023-3582-4EFDE8087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D3C7C8-5978-5DE9-55D9-368DC67E9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7980A-5C62-52DE-B557-2E3C163A2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F8935-1246-FE6D-CC4B-AC09D420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7C0B8-F235-97B1-D80D-F161FFDC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91E39-FD0E-AB34-4E6F-24E41F88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4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FB09-3255-1FD4-BF38-D9E71C411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C5D11-BD72-8198-7180-0FE791BEC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AA0CE-0914-7369-79C0-A4336C98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2E93-8F1A-6ABF-9901-370DE37E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68C0-3F79-AA64-97A8-31DC17AC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C0052-C657-C29C-7D2D-961A5D2A1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1786F-9538-CF94-4684-EB6EB4890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0AC60-8C17-AB75-15FD-D3A63AB2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613C5-B6AE-A603-6B46-A7060575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035B3-313B-770C-EAA9-260D6925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9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ED760-9D0A-1F9D-8770-DB8448298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696F6-95A6-E39A-50BE-4C8F67221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5DDF9-E945-5AD5-6B4A-BC1219455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BDB3D-D339-4751-84AD-D7822D55FA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10F7-A53C-2861-3C8F-550C81EE4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D6101-5450-1D28-0900-A67EC23EF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3E7F5-88F0-4F60-AFA8-814EE14D8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D0165-9748-8416-3CDC-895F8AAB8A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720D80-23B0-3EB7-222A-47D942F0CB8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B1720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CEADA-3875-3B15-B9AB-90B210ED54E0}"/>
              </a:ext>
            </a:extLst>
          </p:cNvPr>
          <p:cNvSpPr txBox="1"/>
          <p:nvPr/>
        </p:nvSpPr>
        <p:spPr>
          <a:xfrm>
            <a:off x="660400" y="1625600"/>
            <a:ext cx="5397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3900" b="1">
                <a:solidFill>
                  <a:srgbClr val="F1F6F2"/>
                </a:solidFill>
                <a:latin typeface="Arial" panose="020B0604020202020204" pitchFamily="34" charset="0"/>
              </a:rPr>
              <a:t>WattWise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172CE3-E96B-4307-09F1-7F2EACAC3E05}"/>
              </a:ext>
            </a:extLst>
          </p:cNvPr>
          <p:cNvSpPr/>
          <p:nvPr/>
        </p:nvSpPr>
        <p:spPr>
          <a:xfrm>
            <a:off x="685800" y="2628900"/>
            <a:ext cx="838200" cy="508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2E646-1DAF-FBCA-F473-0DBF026D5545}"/>
              </a:ext>
            </a:extLst>
          </p:cNvPr>
          <p:cNvSpPr txBox="1"/>
          <p:nvPr/>
        </p:nvSpPr>
        <p:spPr>
          <a:xfrm>
            <a:off x="660400" y="2984500"/>
            <a:ext cx="53340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400" b="1">
                <a:solidFill>
                  <a:srgbClr val="F1F6F2"/>
                </a:solidFill>
                <a:latin typeface="Arial" panose="020B0604020202020204" pitchFamily="34" charset="0"/>
              </a:rPr>
              <a:t>Energy Forecasting
&amp; Anomaly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7A47B-43ED-9284-1317-BA3E42A51B62}"/>
              </a:ext>
            </a:extLst>
          </p:cNvPr>
          <p:cNvSpPr txBox="1"/>
          <p:nvPr/>
        </p:nvSpPr>
        <p:spPr>
          <a:xfrm>
            <a:off x="660400" y="4495800"/>
            <a:ext cx="533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700" b="1">
                <a:solidFill>
                  <a:srgbClr val="A0E7D7"/>
                </a:solidFill>
                <a:latin typeface="Arial" panose="020B0604020202020204" pitchFamily="34" charset="0"/>
              </a:rPr>
              <a:t>Advanced Machine Learning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BF9CA-F0BB-FF80-148E-BB847E2B7DF5}"/>
              </a:ext>
            </a:extLst>
          </p:cNvPr>
          <p:cNvSpPr txBox="1"/>
          <p:nvPr/>
        </p:nvSpPr>
        <p:spPr>
          <a:xfrm>
            <a:off x="660400" y="5016500"/>
            <a:ext cx="533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400">
                <a:solidFill>
                  <a:srgbClr val="ADC0C5"/>
                </a:solidFill>
                <a:latin typeface="Arial" panose="020B0604020202020204" pitchFamily="34" charset="0"/>
              </a:rPr>
              <a:t>Short-horizon forecasts • Explainable signals • Human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2F5A9-9586-CD58-95B0-B62918544BBD}"/>
              </a:ext>
            </a:extLst>
          </p:cNvPr>
          <p:cNvSpPr txBox="1"/>
          <p:nvPr/>
        </p:nvSpPr>
        <p:spPr>
          <a:xfrm>
            <a:off x="660400" y="6172200"/>
            <a:ext cx="533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100">
                <a:solidFill>
                  <a:srgbClr val="ADC0C5"/>
                </a:solidFill>
                <a:latin typeface="Arial" panose="020B0604020202020204" pitchFamily="34" charset="0"/>
              </a:rPr>
              <a:t>Advanced Machine Learning  |  2026</a:t>
            </a:r>
          </a:p>
        </p:txBody>
      </p:sp>
    </p:spTree>
    <p:extLst>
      <p:ext uri="{BB962C8B-B14F-4D97-AF65-F5344CB8AC3E}">
        <p14:creationId xmlns:p14="http://schemas.microsoft.com/office/powerpoint/2010/main" val="49145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888E6D-9355-F717-3706-2D433F19A950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28D41-D2FA-6D51-6D79-27396FBDEB4D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Project Team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D33EAA3-B25A-48CE-C841-3C9410B86E52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FF476FD-E605-DFDB-8256-0099DD598609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4109A-8BAE-598E-BD70-B44CECF9D90B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93C19-0F86-D4D8-46B3-B0F410320EC3}"/>
              </a:ext>
            </a:extLst>
          </p:cNvPr>
          <p:cNvSpPr txBox="1"/>
          <p:nvPr/>
        </p:nvSpPr>
        <p:spPr>
          <a:xfrm>
            <a:off x="7239000" y="1511300"/>
            <a:ext cx="419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900" b="1">
                <a:solidFill>
                  <a:srgbClr val="A0E7D7"/>
                </a:solidFill>
                <a:latin typeface="Arial" panose="020B0604020202020204" pitchFamily="34" charset="0"/>
              </a:rPr>
              <a:t>Team Members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F7C77F-57B1-329A-B6D8-B6A3CFA2F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880612"/>
              </p:ext>
            </p:extLst>
          </p:nvPr>
        </p:nvGraphicFramePr>
        <p:xfrm>
          <a:off x="685800" y="2082800"/>
          <a:ext cx="108204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77160884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574591857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77685449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 rtl="1"/>
                      <a:r>
                        <a:rPr lang="en-US" sz="13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Student ID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Role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15309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Abdelrhman Mohamed Ahmed Al Ghonimi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223101228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Team Member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745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Denar Reda Roushdy Elsayed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223101171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Team Member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51250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Mariem Abd-Elhamied Abo-Shaeshaa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223101341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Team Member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769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Shrouk Ashraf Seria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223101203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Team Member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18477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E400C5-B473-6824-80AB-3490C222496E}"/>
              </a:ext>
            </a:extLst>
          </p:cNvPr>
          <p:cNvSpPr txBox="1"/>
          <p:nvPr/>
        </p:nvSpPr>
        <p:spPr>
          <a:xfrm>
            <a:off x="8572500" y="4953000"/>
            <a:ext cx="279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400">
                <a:solidFill>
                  <a:srgbClr val="ADC0C5"/>
                </a:solidFill>
                <a:latin typeface="Arial" panose="020B0604020202020204" pitchFamily="34" charset="0"/>
              </a:rPr>
              <a:t>Course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BFF03-2997-1D92-0128-2883D1C9029B}"/>
              </a:ext>
            </a:extLst>
          </p:cNvPr>
          <p:cNvSpPr txBox="1"/>
          <p:nvPr/>
        </p:nvSpPr>
        <p:spPr>
          <a:xfrm>
            <a:off x="6604000" y="5359400"/>
            <a:ext cx="4775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sz="1900" b="1">
                <a:solidFill>
                  <a:srgbClr val="F1F6F2"/>
                </a:solidFill>
                <a:latin typeface="Arial" panose="020B0604020202020204" pitchFamily="34" charset="0"/>
              </a:rPr>
              <a:t>Advanced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8437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32C961-2092-1D5A-65DC-FBFD8ACB0DC5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A2E75-C27C-A994-B615-86A862E4666F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Problem and Scope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0185DB9-E368-70FE-5A9A-F74734F4E416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DFB26C-B8F2-095D-233C-6B9074092978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55651-869B-B796-9D62-DC2C239B852B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A817C-A0A1-6372-AB6B-F7391D9FF5A3}"/>
              </a:ext>
            </a:extLst>
          </p:cNvPr>
          <p:cNvSpPr txBox="1"/>
          <p:nvPr/>
        </p:nvSpPr>
        <p:spPr>
          <a:xfrm>
            <a:off x="6350000" y="1511300"/>
            <a:ext cx="5143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900" b="1">
                <a:solidFill>
                  <a:srgbClr val="A0E7D7"/>
                </a:solidFill>
                <a:latin typeface="Arial" panose="020B0604020202020204" pitchFamily="34" charset="0"/>
              </a:rPr>
              <a:t>Question Addressed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A1EE8-7CE8-A2FC-8492-EB07077B0A19}"/>
              </a:ext>
            </a:extLst>
          </p:cNvPr>
          <p:cNvSpPr txBox="1"/>
          <p:nvPr/>
        </p:nvSpPr>
        <p:spPr>
          <a:xfrm>
            <a:off x="1587500" y="20320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200" b="1">
                <a:solidFill>
                  <a:srgbClr val="F1F6F2"/>
                </a:solidFill>
                <a:latin typeface="Arial" panose="020B0604020202020204" pitchFamily="34" charset="0"/>
              </a:rPr>
              <a:t>How much energy will household appliances use in the next interval, and how far might observed use depart from the forecast?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7413E7-1B4B-E5FF-978B-3F31BC86712A}"/>
              </a:ext>
            </a:extLst>
          </p:cNvPr>
          <p:cNvSpPr/>
          <p:nvPr/>
        </p:nvSpPr>
        <p:spPr>
          <a:xfrm>
            <a:off x="7112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Household Readings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DB50E1-8F73-1DD0-0297-CCC418931E2E}"/>
              </a:ext>
            </a:extLst>
          </p:cNvPr>
          <p:cNvSpPr txBox="1"/>
          <p:nvPr/>
        </p:nvSpPr>
        <p:spPr>
          <a:xfrm>
            <a:off x="711200" y="4330700"/>
            <a:ext cx="24130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en-US" sz="1150">
                <a:solidFill>
                  <a:srgbClr val="ADC0C5"/>
                </a:solidFill>
                <a:latin typeface="Arial" panose="020B0604020202020204" pitchFamily="34" charset="0"/>
              </a:rPr>
              <a:t>Available sensor and energy readings at time 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D5BCBC-2202-5422-C1FE-D22215B014AF}"/>
              </a:ext>
            </a:extLst>
          </p:cNvPr>
          <p:cNvCxnSpPr/>
          <p:nvPr/>
        </p:nvCxnSpPr>
        <p:spPr>
          <a:xfrm>
            <a:off x="3175000" y="3873500"/>
            <a:ext cx="381000" cy="0"/>
          </a:xfrm>
          <a:prstGeom prst="straightConnector1">
            <a:avLst/>
          </a:prstGeom>
          <a:ln w="1905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56D9A8-91AA-98EB-C825-5856FA817378}"/>
              </a:ext>
            </a:extLst>
          </p:cNvPr>
          <p:cNvSpPr/>
          <p:nvPr/>
        </p:nvSpPr>
        <p:spPr>
          <a:xfrm>
            <a:off x="36195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Next-Interval Forecast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FD113-EB90-254A-E217-BD49EB0E50AD}"/>
              </a:ext>
            </a:extLst>
          </p:cNvPr>
          <p:cNvSpPr txBox="1"/>
          <p:nvPr/>
        </p:nvSpPr>
        <p:spPr>
          <a:xfrm>
            <a:off x="3619500" y="4330700"/>
            <a:ext cx="24130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en-US" sz="1150">
                <a:solidFill>
                  <a:srgbClr val="ADC0C5"/>
                </a:solidFill>
                <a:latin typeface="Arial" panose="020B0604020202020204" pitchFamily="34" charset="0"/>
              </a:rPr>
              <a:t>Observed energy at the next row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DF8D99-9786-BC09-2CB6-BFB8E9B9BB43}"/>
              </a:ext>
            </a:extLst>
          </p:cNvPr>
          <p:cNvCxnSpPr/>
          <p:nvPr/>
        </p:nvCxnSpPr>
        <p:spPr>
          <a:xfrm>
            <a:off x="6083300" y="3873500"/>
            <a:ext cx="381000" cy="0"/>
          </a:xfrm>
          <a:prstGeom prst="straightConnector1">
            <a:avLst/>
          </a:prstGeom>
          <a:ln w="1905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7275CC-0C29-2DA5-A3D1-8CE91687CD1D}"/>
              </a:ext>
            </a:extLst>
          </p:cNvPr>
          <p:cNvSpPr/>
          <p:nvPr/>
        </p:nvSpPr>
        <p:spPr>
          <a:xfrm>
            <a:off x="65278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Residual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9535D6-3E14-0A6C-D879-8127059C6B7B}"/>
              </a:ext>
            </a:extLst>
          </p:cNvPr>
          <p:cNvSpPr txBox="1"/>
          <p:nvPr/>
        </p:nvSpPr>
        <p:spPr>
          <a:xfrm>
            <a:off x="6527800" y="43307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en-US" sz="1150">
                <a:solidFill>
                  <a:srgbClr val="ADC0C5"/>
                </a:solidFill>
                <a:latin typeface="Arial" panose="020B0604020202020204" pitchFamily="34" charset="0"/>
              </a:rPr>
              <a:t>Actual − predicted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4A6F6B-7242-7DB0-0866-C89B323ACFB4}"/>
              </a:ext>
            </a:extLst>
          </p:cNvPr>
          <p:cNvCxnSpPr/>
          <p:nvPr/>
        </p:nvCxnSpPr>
        <p:spPr>
          <a:xfrm>
            <a:off x="8991600" y="3873500"/>
            <a:ext cx="381000" cy="0"/>
          </a:xfrm>
          <a:prstGeom prst="straightConnector1">
            <a:avLst/>
          </a:prstGeom>
          <a:ln w="1905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85780F-FA23-9FAD-6005-7DB50D68837B}"/>
              </a:ext>
            </a:extLst>
          </p:cNvPr>
          <p:cNvSpPr/>
          <p:nvPr/>
        </p:nvSpPr>
        <p:spPr>
          <a:xfrm>
            <a:off x="94361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Human Review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C73BA7-FEB6-8785-E546-0B41F07CE3C1}"/>
              </a:ext>
            </a:extLst>
          </p:cNvPr>
          <p:cNvSpPr txBox="1"/>
          <p:nvPr/>
        </p:nvSpPr>
        <p:spPr>
          <a:xfrm>
            <a:off x="9436100" y="43307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en-US" sz="1150">
                <a:solidFill>
                  <a:srgbClr val="ADC0C5"/>
                </a:solidFill>
                <a:latin typeface="Arial" panose="020B0604020202020204" pitchFamily="34" charset="0"/>
              </a:rPr>
              <a:t>A signal worth investigating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7484EB-BD58-A5F2-3697-5E3806A347A8}"/>
              </a:ext>
            </a:extLst>
          </p:cNvPr>
          <p:cNvSpPr txBox="1"/>
          <p:nvPr/>
        </p:nvSpPr>
        <p:spPr>
          <a:xfrm>
            <a:off x="1333500" y="5524500"/>
            <a:ext cx="1003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500" b="1">
                <a:solidFill>
                  <a:srgbClr val="E3AA63"/>
                </a:solidFill>
                <a:latin typeface="Arial" panose="020B0604020202020204" pitchFamily="34" charset="0"/>
              </a:rPr>
              <a:t>A residual does not diagnose waste or a fault. The UCI dataset has no verified waste or fault labels.</a:t>
            </a:r>
          </a:p>
        </p:txBody>
      </p:sp>
    </p:spTree>
    <p:extLst>
      <p:ext uri="{BB962C8B-B14F-4D97-AF65-F5344CB8AC3E}">
        <p14:creationId xmlns:p14="http://schemas.microsoft.com/office/powerpoint/2010/main" val="358806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2D5821-34CE-692A-894A-4388B6661457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E328A-D675-7446-0C8A-D2EED519EF7A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Dataset and Source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14B100-45D3-C78D-71F9-765213E9CA09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A36CD5A-8021-1CF5-76C3-B0676E509820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6A0F8-33CA-4326-35C0-23EC6B2C6945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42852-DAAD-7F2E-981F-C1025429D513}"/>
              </a:ext>
            </a:extLst>
          </p:cNvPr>
          <p:cNvSpPr txBox="1"/>
          <p:nvPr/>
        </p:nvSpPr>
        <p:spPr>
          <a:xfrm>
            <a:off x="6350000" y="1473200"/>
            <a:ext cx="5080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sz="1800" b="1">
                <a:solidFill>
                  <a:srgbClr val="A0E7D7"/>
                </a:solidFill>
                <a:latin typeface="Arial" panose="020B0604020202020204" pitchFamily="34" charset="0"/>
              </a:rPr>
              <a:t>UCI Appliances Energy Prediction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D10D98-0EB5-77DF-4942-6582D291B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82535"/>
              </p:ext>
            </p:extLst>
          </p:nvPr>
        </p:nvGraphicFramePr>
        <p:xfrm>
          <a:off x="914400" y="2057400"/>
          <a:ext cx="10363200" cy="3174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8500">
                  <a:extLst>
                    <a:ext uri="{9D8B030D-6E8A-4147-A177-3AD203B41FA5}">
                      <a16:colId xmlns:a16="http://schemas.microsoft.com/office/drawing/2014/main" val="3178368527"/>
                    </a:ext>
                  </a:extLst>
                </a:gridCol>
                <a:gridCol w="4584700">
                  <a:extLst>
                    <a:ext uri="{9D8B030D-6E8A-4147-A177-3AD203B41FA5}">
                      <a16:colId xmlns:a16="http://schemas.microsoft.com/office/drawing/2014/main" val="1858872785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pPr algn="l" rtl="1"/>
                      <a:r>
                        <a:rPr lang="en-US" sz="14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Field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4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32889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Observations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19,735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557641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Original columns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24119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Sampling interval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10 minutes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4436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Coverage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Jan–May 2016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605052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Missing values / duplicates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 / 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316093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Target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Appliance energy (Wh per interval)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698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210B466-DB9F-5510-C192-6F931A7EF1E8}"/>
              </a:ext>
            </a:extLst>
          </p:cNvPr>
          <p:cNvSpPr txBox="1"/>
          <p:nvPr/>
        </p:nvSpPr>
        <p:spPr>
          <a:xfrm>
            <a:off x="914400" y="5422900"/>
            <a:ext cx="10363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50">
                <a:solidFill>
                  <a:srgbClr val="ADC0C5"/>
                </a:solidFill>
                <a:latin typeface="Arial" panose="020B0604020202020204" pitchFamily="34" charset="0"/>
              </a:rPr>
              <a:t>UCI Machine Learning Repository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F33FA7-DEC7-477B-9321-9FCB24F5EEA5}"/>
              </a:ext>
            </a:extLst>
          </p:cNvPr>
          <p:cNvSpPr txBox="1"/>
          <p:nvPr/>
        </p:nvSpPr>
        <p:spPr>
          <a:xfrm>
            <a:off x="914400" y="5689600"/>
            <a:ext cx="10363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950">
                <a:solidFill>
                  <a:srgbClr val="ADC0C5"/>
                </a:solidFill>
                <a:latin typeface="Arial" panose="020B0604020202020204" pitchFamily="34" charset="0"/>
              </a:rPr>
              <a:t>archive.ics.uci.edu/dataset/374/appliances+energy+prediction</a:t>
            </a:r>
          </a:p>
        </p:txBody>
      </p:sp>
    </p:spTree>
    <p:extLst>
      <p:ext uri="{BB962C8B-B14F-4D97-AF65-F5344CB8AC3E}">
        <p14:creationId xmlns:p14="http://schemas.microsoft.com/office/powerpoint/2010/main" val="4033459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D7F01-5BC2-16D3-0EAA-FAB204D22C58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1655C-7CBC-3D5C-4767-C27C87373604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Data-to-Forecast Pipeline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1A1AED-8335-72D0-4BC0-4F8A40F7255E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0BF028-4127-44F1-293D-59FACF4AFA88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5E311-7941-FB06-5A55-F95DA27DF707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26C95F-A417-2E64-B3D9-1548C58E6ADF}"/>
              </a:ext>
            </a:extLst>
          </p:cNvPr>
          <p:cNvSpPr/>
          <p:nvPr/>
        </p:nvSpPr>
        <p:spPr>
          <a:xfrm>
            <a:off x="533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UCI Dataset
19,735 rows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0BE414-FAB4-2693-23DA-102A75E7866C}"/>
              </a:ext>
            </a:extLst>
          </p:cNvPr>
          <p:cNvCxnSpPr/>
          <p:nvPr/>
        </p:nvCxnSpPr>
        <p:spPr>
          <a:xfrm>
            <a:off x="2209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D1A902-1FF4-6D8E-7D7D-9311FB6B8179}"/>
              </a:ext>
            </a:extLst>
          </p:cNvPr>
          <p:cNvSpPr/>
          <p:nvPr/>
        </p:nvSpPr>
        <p:spPr>
          <a:xfrm>
            <a:off x="2438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Validate &amp; Clean
Timestamps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9401F3-FA91-7911-8A9D-268CB3CDDE6D}"/>
              </a:ext>
            </a:extLst>
          </p:cNvPr>
          <p:cNvCxnSpPr/>
          <p:nvPr/>
        </p:nvCxnSpPr>
        <p:spPr>
          <a:xfrm>
            <a:off x="4114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4DA77C-7BF2-2B98-A49E-02EE06749AC4}"/>
              </a:ext>
            </a:extLst>
          </p:cNvPr>
          <p:cNvSpPr/>
          <p:nvPr/>
        </p:nvSpPr>
        <p:spPr>
          <a:xfrm>
            <a:off x="4343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Feature Engineering
63 features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473835-FD4F-D1DF-C78F-AAE3D2F42900}"/>
              </a:ext>
            </a:extLst>
          </p:cNvPr>
          <p:cNvCxnSpPr/>
          <p:nvPr/>
        </p:nvCxnSpPr>
        <p:spPr>
          <a:xfrm>
            <a:off x="6019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412B6B-10DE-A222-F3E0-EC17D5549D6A}"/>
              </a:ext>
            </a:extLst>
          </p:cNvPr>
          <p:cNvSpPr/>
          <p:nvPr/>
        </p:nvSpPr>
        <p:spPr>
          <a:xfrm>
            <a:off x="6248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Chronological Split
70 / 15 / 15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E28084-5EA8-A081-553E-F3EBAC79C949}"/>
              </a:ext>
            </a:extLst>
          </p:cNvPr>
          <p:cNvCxnSpPr/>
          <p:nvPr/>
        </p:nvCxnSpPr>
        <p:spPr>
          <a:xfrm>
            <a:off x="7924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940D97-6DEC-51D7-3662-FE58F6FA8219}"/>
              </a:ext>
            </a:extLst>
          </p:cNvPr>
          <p:cNvSpPr/>
          <p:nvPr/>
        </p:nvSpPr>
        <p:spPr>
          <a:xfrm>
            <a:off x="8153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Select on
validation only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697A5B-C547-B333-7BCD-15D3659D3AD1}"/>
              </a:ext>
            </a:extLst>
          </p:cNvPr>
          <p:cNvCxnSpPr/>
          <p:nvPr/>
        </p:nvCxnSpPr>
        <p:spPr>
          <a:xfrm>
            <a:off x="9829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EBC556-B704-1663-1F61-45A5C5795E93}"/>
              </a:ext>
            </a:extLst>
          </p:cNvPr>
          <p:cNvSpPr/>
          <p:nvPr/>
        </p:nvSpPr>
        <p:spPr>
          <a:xfrm>
            <a:off x="10058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Held-out Test
then review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714A4D-E7B3-AC80-7FB8-A57CC85C80B6}"/>
              </a:ext>
            </a:extLst>
          </p:cNvPr>
          <p:cNvCxnSpPr/>
          <p:nvPr/>
        </p:nvCxnSpPr>
        <p:spPr>
          <a:xfrm>
            <a:off x="850900" y="4267200"/>
            <a:ext cx="10490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9678075-073C-E638-D08E-F93A226BBCFE}"/>
              </a:ext>
            </a:extLst>
          </p:cNvPr>
          <p:cNvSpPr txBox="1"/>
          <p:nvPr/>
        </p:nvSpPr>
        <p:spPr>
          <a:xfrm>
            <a:off x="8636000" y="4572000"/>
            <a:ext cx="2692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400" b="1">
                <a:solidFill>
                  <a:srgbClr val="A0E7D7"/>
                </a:solidFill>
                <a:latin typeface="Arial" panose="020B0604020202020204" pitchFamily="34" charset="0"/>
              </a:rPr>
              <a:t>Forecast Inputs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E7962-C5A7-D2B6-A6F6-74162FC155CD}"/>
              </a:ext>
            </a:extLst>
          </p:cNvPr>
          <p:cNvSpPr txBox="1"/>
          <p:nvPr/>
        </p:nvSpPr>
        <p:spPr>
          <a:xfrm>
            <a:off x="889000" y="50038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>
                <a:solidFill>
                  <a:srgbClr val="F1F6F2"/>
                </a:solidFill>
                <a:latin typeface="Arial" panose="020B0604020202020204" pitchFamily="34" charset="0"/>
              </a:rPr>
              <a:t>At time t: sensor readings, current energy use, and available historical features.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42C213-A993-FD1C-18A6-1636619436FB}"/>
              </a:ext>
            </a:extLst>
          </p:cNvPr>
          <p:cNvSpPr txBox="1"/>
          <p:nvPr/>
        </p:nvSpPr>
        <p:spPr>
          <a:xfrm>
            <a:off x="889000" y="55118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>
                <a:solidFill>
                  <a:srgbClr val="ADC0C5"/>
                </a:solidFill>
                <a:latin typeface="Arial" panose="020B0604020202020204" pitchFamily="34" charset="0"/>
              </a:rPr>
              <a:t>Target: appliance energy observed in the next row, usually 10 minutes later.</a:t>
            </a:r>
          </a:p>
        </p:txBody>
      </p:sp>
    </p:spTree>
    <p:extLst>
      <p:ext uri="{BB962C8B-B14F-4D97-AF65-F5344CB8AC3E}">
        <p14:creationId xmlns:p14="http://schemas.microsoft.com/office/powerpoint/2010/main" val="41534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FC344E-D07A-11D8-4600-A37964BBE433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DEF02-6743-7369-F3B4-8264316D79C4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Feature Engineering and Leakage Controls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9331F56-25E7-A5CE-997B-F185EAB80C6E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2DC781-2DD1-C425-453F-9AED39BB4BAE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4D98B-97D8-337D-D567-00AFEBB7362E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110D1-195F-55FF-3DCD-6B6D1C252573}"/>
              </a:ext>
            </a:extLst>
          </p:cNvPr>
          <p:cNvSpPr txBox="1"/>
          <p:nvPr/>
        </p:nvSpPr>
        <p:spPr>
          <a:xfrm>
            <a:off x="7239000" y="1473200"/>
            <a:ext cx="419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800" b="1">
                <a:solidFill>
                  <a:srgbClr val="A0E7D7"/>
                </a:solidFill>
                <a:latin typeface="Arial" panose="020B0604020202020204" pitchFamily="34" charset="0"/>
              </a:rPr>
              <a:t>63 features in the recorded experiment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7BF980-0DA4-6CAC-C95E-24A4CA441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683108"/>
              </p:ext>
            </p:extLst>
          </p:nvPr>
        </p:nvGraphicFramePr>
        <p:xfrm>
          <a:off x="736600" y="1993900"/>
          <a:ext cx="10718800" cy="280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223695080"/>
                    </a:ext>
                  </a:extLst>
                </a:gridCol>
                <a:gridCol w="6908800">
                  <a:extLst>
                    <a:ext uri="{9D8B030D-6E8A-4147-A177-3AD203B41FA5}">
                      <a16:colId xmlns:a16="http://schemas.microsoft.com/office/drawing/2014/main" val="296495271"/>
                    </a:ext>
                  </a:extLst>
                </a:gridCol>
              </a:tblGrid>
              <a:tr h="467783">
                <a:tc>
                  <a:txBody>
                    <a:bodyPr/>
                    <a:lstStyle/>
                    <a:p>
                      <a:pPr algn="l" rtl="1"/>
                      <a:r>
                        <a:rPr lang="en-US" sz="127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Feature group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7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20766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Current appliance use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appliances_current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936532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Consumption lags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1, 2, 3, 6, 12, 144 samples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681783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Shifted rolling summaries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Mean and standard deviation over 3, 6, 12, 144 samples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560755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Recent changes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Energy, lighting, and selected temperature/humidity readings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65581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Cyclical time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Hour, day, daily and weekly cyclical encodings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4584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4C5ACA5-3116-9010-3948-6AAA34640C94}"/>
              </a:ext>
            </a:extLst>
          </p:cNvPr>
          <p:cNvSpPr txBox="1"/>
          <p:nvPr/>
        </p:nvSpPr>
        <p:spPr>
          <a:xfrm>
            <a:off x="8255000" y="5067300"/>
            <a:ext cx="3048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 b="1">
                <a:solidFill>
                  <a:srgbClr val="A0E7D7"/>
                </a:solidFill>
                <a:latin typeface="Arial" panose="020B0604020202020204" pitchFamily="34" charset="0"/>
              </a:rPr>
              <a:t>Leakage Controls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B02EC-8094-93E0-7F4C-06CF4B019FDF}"/>
              </a:ext>
            </a:extLst>
          </p:cNvPr>
          <p:cNvSpPr txBox="1"/>
          <p:nvPr/>
        </p:nvSpPr>
        <p:spPr>
          <a:xfrm>
            <a:off x="1016000" y="5486400"/>
            <a:ext cx="10287000" cy="67390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300">
                <a:solidFill>
                  <a:srgbClr val="ADC0C5"/>
                </a:solidFill>
                <a:latin typeface="Arial" panose="020B0604020202020204" pitchFamily="34" charset="0"/>
              </a:rPr>
              <a:t>• Forward-fill from past values only; never back-fill from the future.
• Rolling windows are shifted and exclude the next-step target.
• Chronological splits use disjoint target timestamps.</a:t>
            </a:r>
          </a:p>
        </p:txBody>
      </p:sp>
    </p:spTree>
    <p:extLst>
      <p:ext uri="{BB962C8B-B14F-4D97-AF65-F5344CB8AC3E}">
        <p14:creationId xmlns:p14="http://schemas.microsoft.com/office/powerpoint/2010/main" val="400729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73FCE7-D8D7-42C6-57BF-719BAB51936B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2D185-AAA7-4292-312D-3803F3129E1D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Temporal Evaluation and Candidate Models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ACD6F9-6BB4-8ED5-C36F-0AB937A92AC6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56C651A-2D17-A039-FAB4-A9406F653EDE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7F81A-0BF9-2D34-1CE5-848C02D44922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074FA-6F1D-3C87-F1D0-411D33F6C334}"/>
              </a:ext>
            </a:extLst>
          </p:cNvPr>
          <p:cNvSpPr txBox="1"/>
          <p:nvPr/>
        </p:nvSpPr>
        <p:spPr>
          <a:xfrm>
            <a:off x="8763000" y="1460500"/>
            <a:ext cx="266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700" b="1">
                <a:solidFill>
                  <a:srgbClr val="A0E7D7"/>
                </a:solidFill>
                <a:latin typeface="Arial" panose="020B0604020202020204" pitchFamily="34" charset="0"/>
              </a:rPr>
              <a:t>Chronological 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DC6A9-3999-ECAA-137F-6A15E3DA2407}"/>
              </a:ext>
            </a:extLst>
          </p:cNvPr>
          <p:cNvSpPr/>
          <p:nvPr/>
        </p:nvSpPr>
        <p:spPr>
          <a:xfrm>
            <a:off x="863600" y="2082800"/>
            <a:ext cx="7325360" cy="6350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C9718E-1A13-503F-E2B9-919462BEAC55}"/>
              </a:ext>
            </a:extLst>
          </p:cNvPr>
          <p:cNvSpPr/>
          <p:nvPr/>
        </p:nvSpPr>
        <p:spPr>
          <a:xfrm>
            <a:off x="8188960" y="2082800"/>
            <a:ext cx="1569720" cy="635000"/>
          </a:xfrm>
          <a:prstGeom prst="rect">
            <a:avLst/>
          </a:prstGeom>
          <a:solidFill>
            <a:srgbClr val="E3A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1997C-FBCB-BAC9-32C2-FD37B0A1D869}"/>
              </a:ext>
            </a:extLst>
          </p:cNvPr>
          <p:cNvSpPr/>
          <p:nvPr/>
        </p:nvSpPr>
        <p:spPr>
          <a:xfrm>
            <a:off x="9758680" y="2082800"/>
            <a:ext cx="1569720" cy="635000"/>
          </a:xfrm>
          <a:prstGeom prst="rect">
            <a:avLst/>
          </a:prstGeom>
          <a:solidFill>
            <a:srgbClr val="A0E7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D0D18-FB20-61F6-BA22-30F823F48B5E}"/>
              </a:ext>
            </a:extLst>
          </p:cNvPr>
          <p:cNvSpPr txBox="1"/>
          <p:nvPr/>
        </p:nvSpPr>
        <p:spPr>
          <a:xfrm>
            <a:off x="990600" y="2209800"/>
            <a:ext cx="707136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0201E"/>
                </a:solidFill>
                <a:latin typeface="Arial" panose="020B0604020202020204" pitchFamily="34" charset="0"/>
              </a:rPr>
              <a:t>Train 70%  |  n=13,713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B155A-DD88-92B2-A997-DD824F86BAFE}"/>
              </a:ext>
            </a:extLst>
          </p:cNvPr>
          <p:cNvSpPr txBox="1"/>
          <p:nvPr/>
        </p:nvSpPr>
        <p:spPr>
          <a:xfrm>
            <a:off x="8188960" y="2209800"/>
            <a:ext cx="156972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10201E"/>
                </a:solidFill>
                <a:latin typeface="Arial" panose="020B0604020202020204" pitchFamily="34" charset="0"/>
              </a:rPr>
              <a:t>Validation 15%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F8A8C-EE07-C852-249A-FA83624CF346}"/>
              </a:ext>
            </a:extLst>
          </p:cNvPr>
          <p:cNvSpPr txBox="1"/>
          <p:nvPr/>
        </p:nvSpPr>
        <p:spPr>
          <a:xfrm>
            <a:off x="9758680" y="2209800"/>
            <a:ext cx="156972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10201E"/>
                </a:solidFill>
                <a:latin typeface="Arial" panose="020B0604020202020204" pitchFamily="34" charset="0"/>
              </a:rPr>
              <a:t>Test 15%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4487A-CD0A-687F-03DF-BE6C758CAED5}"/>
              </a:ext>
            </a:extLst>
          </p:cNvPr>
          <p:cNvSpPr txBox="1"/>
          <p:nvPr/>
        </p:nvSpPr>
        <p:spPr>
          <a:xfrm>
            <a:off x="2159000" y="2908300"/>
            <a:ext cx="787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250">
                <a:solidFill>
                  <a:srgbClr val="ADC0C5"/>
                </a:solidFill>
                <a:latin typeface="Arial" panose="020B0604020202020204" pitchFamily="34" charset="0"/>
              </a:rPr>
              <a:t>Train 13,713  |  Validation 2,938  |  Test 2,939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EFE82D-7F12-1CF0-5880-473EDAD921E1}"/>
              </a:ext>
            </a:extLst>
          </p:cNvPr>
          <p:cNvCxnSpPr/>
          <p:nvPr/>
        </p:nvCxnSpPr>
        <p:spPr>
          <a:xfrm>
            <a:off x="825500" y="3492500"/>
            <a:ext cx="105410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DB6215-6983-3422-9D00-598E06BD938B}"/>
              </a:ext>
            </a:extLst>
          </p:cNvPr>
          <p:cNvSpPr txBox="1"/>
          <p:nvPr/>
        </p:nvSpPr>
        <p:spPr>
          <a:xfrm>
            <a:off x="8255000" y="3746500"/>
            <a:ext cx="3111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700" b="1">
                <a:solidFill>
                  <a:srgbClr val="A0E7D7"/>
                </a:solidFill>
                <a:latin typeface="Arial" panose="020B0604020202020204" pitchFamily="34" charset="0"/>
              </a:rPr>
              <a:t>Candidate Models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F2F4C2-1F55-317F-491A-599123E28462}"/>
              </a:ext>
            </a:extLst>
          </p:cNvPr>
          <p:cNvSpPr txBox="1"/>
          <p:nvPr/>
        </p:nvSpPr>
        <p:spPr>
          <a:xfrm>
            <a:off x="5334000" y="4279900"/>
            <a:ext cx="5969000" cy="889987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300">
                <a:solidFill>
                  <a:srgbClr val="F1F6F2"/>
                </a:solidFill>
                <a:latin typeface="Arial" panose="020B0604020202020204" pitchFamily="34" charset="0"/>
              </a:rPr>
              <a:t>Baselines: Persistence, Dummy, Ridge
Forests: Random Forest, Extra Trees
Boosting: HistGradientBoosting, XGBoost
Ensembles: Voting (top 3), Temporal Stacking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BAD1E-6E8E-5B0E-46D2-CC4AAA4C3DAB}"/>
              </a:ext>
            </a:extLst>
          </p:cNvPr>
          <p:cNvSpPr txBox="1"/>
          <p:nvPr/>
        </p:nvSpPr>
        <p:spPr>
          <a:xfrm>
            <a:off x="736600" y="5930900"/>
            <a:ext cx="1069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400" b="1">
                <a:solidFill>
                  <a:srgbClr val="E3AA63"/>
                </a:solidFill>
                <a:latin typeface="Arial" panose="020B0604020202020204" pitchFamily="34" charset="0"/>
              </a:rPr>
              <a:t>The validation set selects the model and residual threshold; test data do not enter selection.</a:t>
            </a:r>
          </a:p>
        </p:txBody>
      </p:sp>
    </p:spTree>
    <p:extLst>
      <p:ext uri="{BB962C8B-B14F-4D97-AF65-F5344CB8AC3E}">
        <p14:creationId xmlns:p14="http://schemas.microsoft.com/office/powerpoint/2010/main" val="333790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8D2094-9B86-0ADD-08C2-C4E60E20187C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BB364-A502-0D0E-92E0-779EF402114F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Tuning and Ensemble Models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E683DE-7A2B-C638-F015-D224B0BD3E87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9CB1E1-7825-DA89-1E35-BDDB5E4ADFF8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49EA6-D9CF-A96C-A66C-FCF9BDE9527C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23016-4517-9264-E0E8-41E6401051A1}"/>
              </a:ext>
            </a:extLst>
          </p:cNvPr>
          <p:cNvSpPr txBox="1"/>
          <p:nvPr/>
        </p:nvSpPr>
        <p:spPr>
          <a:xfrm>
            <a:off x="8445500" y="1473200"/>
            <a:ext cx="2984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700" b="1">
                <a:solidFill>
                  <a:srgbClr val="A0E7D7"/>
                </a:solidFill>
                <a:latin typeface="Arial" panose="020B0604020202020204" pitchFamily="34" charset="0"/>
              </a:rPr>
              <a:t>Expanding-Window Validation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5E2F01-2389-2C77-6C71-70AD539FCE6A}"/>
              </a:ext>
            </a:extLst>
          </p:cNvPr>
          <p:cNvSpPr/>
          <p:nvPr/>
        </p:nvSpPr>
        <p:spPr>
          <a:xfrm>
            <a:off x="8255000" y="2006600"/>
            <a:ext cx="3111500" cy="787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Base Models
3 expanding folds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140343-CC34-0B00-78BF-9B8E50D90D77}"/>
              </a:ext>
            </a:extLst>
          </p:cNvPr>
          <p:cNvSpPr/>
          <p:nvPr/>
        </p:nvSpPr>
        <p:spPr>
          <a:xfrm>
            <a:off x="4508500" y="2006600"/>
            <a:ext cx="3111500" cy="787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nb-NO" sz="1350" b="1">
                <a:solidFill>
                  <a:srgbClr val="F1F6F2"/>
                </a:solidFill>
                <a:latin typeface="Arial" panose="020B0604020202020204" pitchFamily="34" charset="0"/>
              </a:rPr>
              <a:t>Tuned Model
3 outer × 3 inner folds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E02103-435B-154B-A439-0F3912247E37}"/>
              </a:ext>
            </a:extLst>
          </p:cNvPr>
          <p:cNvSpPr/>
          <p:nvPr/>
        </p:nvSpPr>
        <p:spPr>
          <a:xfrm>
            <a:off x="762000" y="2006600"/>
            <a:ext cx="3111500" cy="787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Optuna
MAE tuning inside training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82BB2D-B8E3-AC2F-B898-FF0AD54B003D}"/>
              </a:ext>
            </a:extLst>
          </p:cNvPr>
          <p:cNvCxnSpPr/>
          <p:nvPr/>
        </p:nvCxnSpPr>
        <p:spPr>
          <a:xfrm flipH="1">
            <a:off x="7658100" y="2400300"/>
            <a:ext cx="596900" cy="0"/>
          </a:xfrm>
          <a:prstGeom prst="straightConnector1">
            <a:avLst/>
          </a:prstGeom>
          <a:ln w="1651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3C1D8E-F76F-DA30-DBB6-163CFA83AAFD}"/>
              </a:ext>
            </a:extLst>
          </p:cNvPr>
          <p:cNvCxnSpPr/>
          <p:nvPr/>
        </p:nvCxnSpPr>
        <p:spPr>
          <a:xfrm flipH="1">
            <a:off x="3911600" y="2400300"/>
            <a:ext cx="596900" cy="0"/>
          </a:xfrm>
          <a:prstGeom prst="straightConnector1">
            <a:avLst/>
          </a:prstGeom>
          <a:ln w="1651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D496C5-ADE8-01EB-D368-FD1D8ADAFF29}"/>
              </a:ext>
            </a:extLst>
          </p:cNvPr>
          <p:cNvSpPr txBox="1"/>
          <p:nvPr/>
        </p:nvSpPr>
        <p:spPr>
          <a:xfrm>
            <a:off x="10033000" y="3314700"/>
            <a:ext cx="1333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700" b="1">
                <a:solidFill>
                  <a:srgbClr val="A0E7D7"/>
                </a:solidFill>
                <a:latin typeface="Arial" panose="020B0604020202020204" pitchFamily="34" charset="0"/>
              </a:rPr>
              <a:t>Ensembles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AAD6A-AB89-CFA2-A780-0B85474583E0}"/>
              </a:ext>
            </a:extLst>
          </p:cNvPr>
          <p:cNvSpPr txBox="1"/>
          <p:nvPr/>
        </p:nvSpPr>
        <p:spPr>
          <a:xfrm>
            <a:off x="1143000" y="3797300"/>
            <a:ext cx="101600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500">
                <a:solidFill>
                  <a:srgbClr val="F1F6F2"/>
                </a:solidFill>
                <a:latin typeface="Arial" panose="020B0604020202020204" pitchFamily="34" charset="0"/>
              </a:rPr>
              <a:t>Voting: equal-weight average of the three models with the lowest validation error.
Temporal stacking: out-of-fold forecasts train a linear meta-learner.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82305F-6AE8-5405-56C6-82D1DA759EE7}"/>
              </a:ext>
            </a:extLst>
          </p:cNvPr>
          <p:cNvCxnSpPr/>
          <p:nvPr/>
        </p:nvCxnSpPr>
        <p:spPr>
          <a:xfrm>
            <a:off x="838200" y="4851400"/>
            <a:ext cx="105156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A099C7-5673-D214-070A-AEE8FB3E4119}"/>
              </a:ext>
            </a:extLst>
          </p:cNvPr>
          <p:cNvSpPr txBox="1"/>
          <p:nvPr/>
        </p:nvSpPr>
        <p:spPr>
          <a:xfrm>
            <a:off x="8763000" y="5080000"/>
            <a:ext cx="2603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500" b="1">
                <a:solidFill>
                  <a:srgbClr val="A0E7D7"/>
                </a:solidFill>
                <a:latin typeface="Arial" panose="020B0604020202020204" pitchFamily="34" charset="0"/>
              </a:rPr>
              <a:t>Before Final Comparison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095B25-F6E5-0B63-2051-16008283A472}"/>
              </a:ext>
            </a:extLst>
          </p:cNvPr>
          <p:cNvSpPr txBox="1"/>
          <p:nvPr/>
        </p:nvSpPr>
        <p:spPr>
          <a:xfrm>
            <a:off x="1143000" y="5486400"/>
            <a:ext cx="101600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400">
                <a:solidFill>
                  <a:srgbClr val="ADC0C5"/>
                </a:solidFill>
                <a:latin typeface="Arial" panose="020B0604020202020204" pitchFamily="34" charset="0"/>
              </a:rPr>
              <a:t>Candidates were refit on the same training and validation data, then scored on identical test rows. Ensemble CV is omitted because ensembles were selected using validation.</a:t>
            </a:r>
          </a:p>
        </p:txBody>
      </p:sp>
    </p:spTree>
    <p:extLst>
      <p:ext uri="{BB962C8B-B14F-4D97-AF65-F5344CB8AC3E}">
        <p14:creationId xmlns:p14="http://schemas.microsoft.com/office/powerpoint/2010/main" val="40802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40BC7E-FA9E-3634-A78B-FFEAB1CB448F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381E4-6AA6-BAAF-C047-5EC884618226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Model Selection on Validation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6671A3-629C-F1B5-C862-B96CE9512F14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C621DF-B9F7-EB87-3B6D-6C34DED2562D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69049-0F5E-10F7-DBF0-E26126FA0C70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543E3-F52D-732F-0136-38309255DCE8}"/>
              </a:ext>
            </a:extLst>
          </p:cNvPr>
          <p:cNvSpPr txBox="1"/>
          <p:nvPr/>
        </p:nvSpPr>
        <p:spPr>
          <a:xfrm>
            <a:off x="5969000" y="1409700"/>
            <a:ext cx="546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500" b="1">
                <a:solidFill>
                  <a:srgbClr val="A0E7D7"/>
                </a:solidFill>
                <a:latin typeface="Arial" panose="020B0604020202020204" pitchFamily="34" charset="0"/>
              </a:rPr>
              <a:t>Selection metric: minimum validation MAE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34D921-3812-702C-D3B7-796AC9456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740136"/>
              </p:ext>
            </p:extLst>
          </p:nvPr>
        </p:nvGraphicFramePr>
        <p:xfrm>
          <a:off x="876300" y="1993900"/>
          <a:ext cx="10439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1400">
                  <a:extLst>
                    <a:ext uri="{9D8B030D-6E8A-4147-A177-3AD203B41FA5}">
                      <a16:colId xmlns:a16="http://schemas.microsoft.com/office/drawing/2014/main" val="12308649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52291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06604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716245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MAE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RMSE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3164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Voting (top 3)  ✓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21.939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56.356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0.610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8418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Tuned HistGradientBoosting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21.989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56.821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0.603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9392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22.121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57.325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89278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22.335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55.860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0.617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3252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6EC1B8-D6B4-67E3-4A12-1F8863F0AF37}"/>
              </a:ext>
            </a:extLst>
          </p:cNvPr>
          <p:cNvSpPr txBox="1"/>
          <p:nvPr/>
        </p:nvSpPr>
        <p:spPr>
          <a:xfrm>
            <a:off x="8890000" y="46355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500">
                <a:solidFill>
                  <a:srgbClr val="ADC0C5"/>
                </a:solidFill>
                <a:latin typeface="Arial" panose="020B0604020202020204" pitchFamily="34" charset="0"/>
              </a:rPr>
              <a:t>Selected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0931A-E059-6AAF-27B8-6C4E383001AB}"/>
              </a:ext>
            </a:extLst>
          </p:cNvPr>
          <p:cNvSpPr txBox="1"/>
          <p:nvPr/>
        </p:nvSpPr>
        <p:spPr>
          <a:xfrm>
            <a:off x="6121400" y="5041900"/>
            <a:ext cx="520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sz="2700" b="1">
                <a:solidFill>
                  <a:srgbClr val="A0E7D7"/>
                </a:solidFill>
                <a:latin typeface="Arial" panose="020B0604020202020204" pitchFamily="34" charset="0"/>
              </a:rPr>
              <a:t>Voting (top 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7F604-9266-B2C2-96A1-93F482D0594D}"/>
              </a:ext>
            </a:extLst>
          </p:cNvPr>
          <p:cNvSpPr txBox="1"/>
          <p:nvPr/>
        </p:nvSpPr>
        <p:spPr>
          <a:xfrm>
            <a:off x="1397000" y="57785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150">
                <a:solidFill>
                  <a:srgbClr val="ADC0C5"/>
                </a:solidFill>
                <a:latin typeface="Arial" panose="020B0604020202020204" pitchFamily="34" charset="0"/>
              </a:rPr>
              <a:t>Equal weights: Tuned HistGradientBoosting  |  HistGradientBoosting  |  XGBoost</a:t>
            </a:r>
          </a:p>
        </p:txBody>
      </p:sp>
    </p:spTree>
    <p:extLst>
      <p:ext uri="{BB962C8B-B14F-4D97-AF65-F5344CB8AC3E}">
        <p14:creationId xmlns:p14="http://schemas.microsoft.com/office/powerpoint/2010/main" val="385051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A0368E-EE5B-A9E4-8869-0A0A29EAA916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82C4D-EA35-C43D-807B-CF81578C6DF0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Held-Out Test Model Comparison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65705F-8CCA-66E8-5403-D142CB5BFED6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786F82E-8177-5C77-F3F4-B49C396E7A2A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BE739-FA63-F127-72F2-4DD63521B194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0A636-FCFA-0D1E-EF1A-C479B339A2BC}"/>
              </a:ext>
            </a:extLst>
          </p:cNvPr>
          <p:cNvSpPr txBox="1"/>
          <p:nvPr/>
        </p:nvSpPr>
        <p:spPr>
          <a:xfrm>
            <a:off x="4254500" y="1295400"/>
            <a:ext cx="7175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50">
                <a:solidFill>
                  <a:srgbClr val="ADC0C5"/>
                </a:solidFill>
                <a:latin typeface="Arial" panose="020B0604020202020204" pitchFamily="34" charset="0"/>
              </a:rPr>
              <a:t>n = 2,939  |  MAE / RMSE: Wh per 10 min  |  R²: unitless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5F98CB-AE63-69BE-D1D7-EA3E9EA01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10500"/>
              </p:ext>
            </p:extLst>
          </p:nvPr>
        </p:nvGraphicFramePr>
        <p:xfrm>
          <a:off x="584200" y="1676400"/>
          <a:ext cx="11023600" cy="405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789023585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63158949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79427405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868023110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630187538"/>
                    </a:ext>
                  </a:extLst>
                </a:gridCol>
              </a:tblGrid>
              <a:tr h="337608"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MAE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RMSE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Selection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177750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Tuned HistGradientBoosting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22.268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58.872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383821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Voting (top 3)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22.385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58.723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Selected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382787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22.662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59.814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895715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22.820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58.326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917470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Temporal Stacking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23.722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57.941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196161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Extra Trees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26.159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57.324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0.603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035105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 (squared)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26.644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57.693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235749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Persistence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26.723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66.786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0.461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62194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Ridge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27.878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59.990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044772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Random Forest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28.987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58.660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065322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Dummy mean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52.354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90.977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-0.000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7282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2C9F675-99FA-F7AF-0C54-63B4D99BF3F3}"/>
              </a:ext>
            </a:extLst>
          </p:cNvPr>
          <p:cNvSpPr txBox="1"/>
          <p:nvPr/>
        </p:nvSpPr>
        <p:spPr>
          <a:xfrm>
            <a:off x="965200" y="58547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50" b="1">
                <a:solidFill>
                  <a:srgbClr val="E3AA63"/>
                </a:solidFill>
                <a:latin typeface="Arial" panose="020B0604020202020204" pitchFamily="34" charset="0"/>
              </a:rPr>
              <a:t>Retrospective test leaders — MAE: Tuned HistGradientBoosting  |  RMSE: Extra Trees</a:t>
            </a:r>
          </a:p>
        </p:txBody>
      </p:sp>
    </p:spTree>
    <p:extLst>
      <p:ext uri="{BB962C8B-B14F-4D97-AF65-F5344CB8AC3E}">
        <p14:creationId xmlns:p14="http://schemas.microsoft.com/office/powerpoint/2010/main" val="380975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5392A4-2324-0A60-777F-DCFD1B00059D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1CE2B-D859-8CCF-139B-CDAB24A8420A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Temporal Cross-Validation Results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F6C476-4459-0E60-A6C4-09F174271B7B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9E0DD06-3168-AA82-18AC-A796478A23EC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1816C-2F08-1466-61B2-E076A318AB7F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9944A-7E18-D37A-B973-294B077937F8}"/>
              </a:ext>
            </a:extLst>
          </p:cNvPr>
          <p:cNvSpPr txBox="1"/>
          <p:nvPr/>
        </p:nvSpPr>
        <p:spPr>
          <a:xfrm>
            <a:off x="6019800" y="1295400"/>
            <a:ext cx="5397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00">
                <a:solidFill>
                  <a:srgbClr val="ADC0C5"/>
                </a:solidFill>
                <a:latin typeface="Arial" panose="020B0604020202020204" pitchFamily="34" charset="0"/>
              </a:rPr>
              <a:t>3 expanding folds  |  mean ± population standard deviation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445A88-16D4-31EE-5651-FCF98A80D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998262"/>
              </p:ext>
            </p:extLst>
          </p:nvPr>
        </p:nvGraphicFramePr>
        <p:xfrm>
          <a:off x="622300" y="1663700"/>
          <a:ext cx="10947400" cy="408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6400">
                  <a:extLst>
                    <a:ext uri="{9D8B030D-6E8A-4147-A177-3AD203B41FA5}">
                      <a16:colId xmlns:a16="http://schemas.microsoft.com/office/drawing/2014/main" val="357910633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66815684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0692431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317805016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pPr algn="l" rtl="1"/>
                      <a:r>
                        <a:rPr lang="en-US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CV MAE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CV RMSE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CV 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9253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Persistence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30.387 ± 1.021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73.219 ± 1.493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0.480 ± 0.027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572749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Dummy mean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60.099 ± 1.275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101.743 ± 4.454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-0.001 ± 0.001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67038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Ridge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36.608 ± 8.038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69.480 ± 2.314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0.527 ± 0.075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53506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Random Forest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31.720 ± 1.812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64.880 ± 0.728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0.590 ± 0.046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873576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Extra Trees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30.113 ± 1.907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64.122 ± 0.348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0.600 ± 0.040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86654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27.049 ± 1.022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67.234 ± 1.177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0.561 ± 0.027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624634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 (squared)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29.386 ± 2.179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64.941 ± 1.546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0.588 ± 0.057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950337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27.083 ± 1.461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65.273 ± 0.643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0.586 ± 0.032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837544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Tuned HGB · nested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27.093 ± 1.159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67.308 ± 1.296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0.560 ± 0.029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7800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A78B84-63AF-47E8-4A83-BE9C4E3DE24E}"/>
              </a:ext>
            </a:extLst>
          </p:cNvPr>
          <p:cNvSpPr txBox="1"/>
          <p:nvPr/>
        </p:nvSpPr>
        <p:spPr>
          <a:xfrm>
            <a:off x="952500" y="59182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950">
                <a:solidFill>
                  <a:srgbClr val="ADC0C5"/>
                </a:solidFill>
                <a:latin typeface="Arial" panose="020B0604020202020204" pitchFamily="34" charset="0"/>
              </a:rPr>
              <a:t>Nested tuning: 3 outer × 3 inner folds. No CV score for validation-composed ensembles.</a:t>
            </a:r>
          </a:p>
        </p:txBody>
      </p:sp>
    </p:spTree>
    <p:extLst>
      <p:ext uri="{BB962C8B-B14F-4D97-AF65-F5344CB8AC3E}">
        <p14:creationId xmlns:p14="http://schemas.microsoft.com/office/powerpoint/2010/main" val="188025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00063-7EFF-A1E0-5C5F-CA96E1DF2935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4FFFA-661A-90D3-83F5-D539F3FAC23A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Residual Error Diagnostics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9C77C5-7BE9-3D48-C61A-BCE293DA5FD5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336B494-11EB-CDBD-A39C-AEE9C86DE7B7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9BFB1C-A529-9530-9056-11946445838A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04E8D-3368-6043-6A51-7B44E7095F94}"/>
              </a:ext>
            </a:extLst>
          </p:cNvPr>
          <p:cNvSpPr txBox="1"/>
          <p:nvPr/>
        </p:nvSpPr>
        <p:spPr>
          <a:xfrm>
            <a:off x="6959600" y="1422400"/>
            <a:ext cx="444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400" b="1">
                <a:solidFill>
                  <a:srgbClr val="A0E7D7"/>
                </a:solidFill>
                <a:latin typeface="Arial" panose="020B0604020202020204" pitchFamily="34" charset="0"/>
              </a:rPr>
              <a:t>Selected model | held-out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0F073-703C-6519-F78A-F12868BC5A93}"/>
              </a:ext>
            </a:extLst>
          </p:cNvPr>
          <p:cNvSpPr txBox="1"/>
          <p:nvPr/>
        </p:nvSpPr>
        <p:spPr>
          <a:xfrm>
            <a:off x="2413000" y="1905000"/>
            <a:ext cx="901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1F6F2"/>
                </a:solidFill>
                <a:latin typeface="Arial" panose="020B0604020202020204" pitchFamily="34" charset="0"/>
              </a:rPr>
              <a:t>MAE  22.385 Wh     RMSE  58.723 Wh     R²  0.583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203F66-261B-0245-F417-415BBCB894EE}"/>
              </a:ext>
            </a:extLst>
          </p:cNvPr>
          <p:cNvCxnSpPr/>
          <p:nvPr/>
        </p:nvCxnSpPr>
        <p:spPr>
          <a:xfrm>
            <a:off x="825500" y="2578100"/>
            <a:ext cx="105410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E88E58-E028-C5D4-9833-01D68852899A}"/>
              </a:ext>
            </a:extLst>
          </p:cNvPr>
          <p:cNvSpPr txBox="1"/>
          <p:nvPr/>
        </p:nvSpPr>
        <p:spPr>
          <a:xfrm>
            <a:off x="6985000" y="2806700"/>
            <a:ext cx="4381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400" b="1">
                <a:solidFill>
                  <a:srgbClr val="A0E7D7"/>
                </a:solidFill>
                <a:latin typeface="Arial" panose="020B0604020202020204" pitchFamily="34" charset="0"/>
              </a:rPr>
              <a:t>MAE by time block / demand range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BBBF5E-F5B6-DA16-0932-FFF0BD827C13}"/>
              </a:ext>
            </a:extLst>
          </p:cNvPr>
          <p:cNvSpPr txBox="1"/>
          <p:nvPr/>
        </p:nvSpPr>
        <p:spPr>
          <a:xfrm>
            <a:off x="825500" y="33909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300">
                <a:solidFill>
                  <a:srgbClr val="ADC0C5"/>
                </a:solidFill>
                <a:latin typeface="Arial" panose="020B0604020202020204" pitchFamily="34" charset="0"/>
              </a:rPr>
              <a:t>Time block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048733-696E-4A29-7BEA-8443CC37CC78}"/>
              </a:ext>
            </a:extLst>
          </p:cNvPr>
          <p:cNvSpPr/>
          <p:nvPr/>
        </p:nvSpPr>
        <p:spPr>
          <a:xfrm>
            <a:off x="2908300" y="34544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CC773D-D0CF-D33B-2137-7B11598DDAA3}"/>
              </a:ext>
            </a:extLst>
          </p:cNvPr>
          <p:cNvSpPr/>
          <p:nvPr/>
        </p:nvSpPr>
        <p:spPr>
          <a:xfrm>
            <a:off x="2908300" y="3454400"/>
            <a:ext cx="1574800" cy="1524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249C3C-8CC8-C805-2F22-20A9D210D3DD}"/>
              </a:ext>
            </a:extLst>
          </p:cNvPr>
          <p:cNvSpPr txBox="1"/>
          <p:nvPr/>
        </p:nvSpPr>
        <p:spPr>
          <a:xfrm>
            <a:off x="9982200" y="33655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20.4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92B73-EF54-A5AF-2AEF-D297B474D202}"/>
              </a:ext>
            </a:extLst>
          </p:cNvPr>
          <p:cNvSpPr txBox="1"/>
          <p:nvPr/>
        </p:nvSpPr>
        <p:spPr>
          <a:xfrm>
            <a:off x="825500" y="38735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300">
                <a:solidFill>
                  <a:srgbClr val="ADC0C5"/>
                </a:solidFill>
                <a:latin typeface="Arial" panose="020B0604020202020204" pitchFamily="34" charset="0"/>
              </a:rPr>
              <a:t>Time block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041196-E100-4152-842F-20DFA85F1514}"/>
              </a:ext>
            </a:extLst>
          </p:cNvPr>
          <p:cNvSpPr/>
          <p:nvPr/>
        </p:nvSpPr>
        <p:spPr>
          <a:xfrm>
            <a:off x="2908300" y="39370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F1FD01-F45B-F7A5-06B1-0899AC73623B}"/>
              </a:ext>
            </a:extLst>
          </p:cNvPr>
          <p:cNvSpPr/>
          <p:nvPr/>
        </p:nvSpPr>
        <p:spPr>
          <a:xfrm>
            <a:off x="2908300" y="3937000"/>
            <a:ext cx="1397000" cy="1524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F24574-D387-20DF-465C-B4C97B69CFF7}"/>
              </a:ext>
            </a:extLst>
          </p:cNvPr>
          <p:cNvSpPr txBox="1"/>
          <p:nvPr/>
        </p:nvSpPr>
        <p:spPr>
          <a:xfrm>
            <a:off x="9982200" y="38481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18.2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8772B5-124A-0FA5-ACAA-37B43F38B5DA}"/>
              </a:ext>
            </a:extLst>
          </p:cNvPr>
          <p:cNvSpPr txBox="1"/>
          <p:nvPr/>
        </p:nvSpPr>
        <p:spPr>
          <a:xfrm>
            <a:off x="825500" y="43561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300">
                <a:solidFill>
                  <a:srgbClr val="ADC0C5"/>
                </a:solidFill>
                <a:latin typeface="Arial" panose="020B0604020202020204" pitchFamily="34" charset="0"/>
              </a:rPr>
              <a:t>Time block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87D0E6-013D-CB0B-713C-0F1DDCB57C70}"/>
              </a:ext>
            </a:extLst>
          </p:cNvPr>
          <p:cNvSpPr/>
          <p:nvPr/>
        </p:nvSpPr>
        <p:spPr>
          <a:xfrm>
            <a:off x="2908300" y="44196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370109-4497-5969-DF60-099D132D4E01}"/>
              </a:ext>
            </a:extLst>
          </p:cNvPr>
          <p:cNvSpPr/>
          <p:nvPr/>
        </p:nvSpPr>
        <p:spPr>
          <a:xfrm>
            <a:off x="2908300" y="4419600"/>
            <a:ext cx="2197100" cy="1524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4C3859-EF2E-9A45-C3B1-A53727505B8F}"/>
              </a:ext>
            </a:extLst>
          </p:cNvPr>
          <p:cNvSpPr txBox="1"/>
          <p:nvPr/>
        </p:nvSpPr>
        <p:spPr>
          <a:xfrm>
            <a:off x="9982200" y="43307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28.6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C95011-FBAA-2825-22DA-91F2D6D08024}"/>
              </a:ext>
            </a:extLst>
          </p:cNvPr>
          <p:cNvSpPr txBox="1"/>
          <p:nvPr/>
        </p:nvSpPr>
        <p:spPr>
          <a:xfrm>
            <a:off x="825500" y="48387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300">
                <a:solidFill>
                  <a:srgbClr val="ADC0C5"/>
                </a:solidFill>
                <a:latin typeface="Arial" panose="020B0604020202020204" pitchFamily="34" charset="0"/>
              </a:rPr>
              <a:t>High demand &gt;110 Wh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360C09-87EE-2D6A-C000-2C70DA00A8C5}"/>
              </a:ext>
            </a:extLst>
          </p:cNvPr>
          <p:cNvSpPr/>
          <p:nvPr/>
        </p:nvSpPr>
        <p:spPr>
          <a:xfrm>
            <a:off x="2908300" y="49022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CA41B6-2DF9-9F9C-FADB-9B5A1AC1DCFC}"/>
              </a:ext>
            </a:extLst>
          </p:cNvPr>
          <p:cNvSpPr/>
          <p:nvPr/>
        </p:nvSpPr>
        <p:spPr>
          <a:xfrm>
            <a:off x="2908300" y="4902200"/>
            <a:ext cx="6642100" cy="152400"/>
          </a:xfrm>
          <a:prstGeom prst="rect">
            <a:avLst/>
          </a:prstGeom>
          <a:solidFill>
            <a:srgbClr val="E3A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257A64-2B5C-EE0A-0FB4-2888E4B6C432}"/>
              </a:ext>
            </a:extLst>
          </p:cNvPr>
          <p:cNvSpPr txBox="1"/>
          <p:nvPr/>
        </p:nvSpPr>
        <p:spPr>
          <a:xfrm>
            <a:off x="9982200" y="48133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86.4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8D076A-4011-BFD8-4FC1-CAE738436F8D}"/>
              </a:ext>
            </a:extLst>
          </p:cNvPr>
          <p:cNvSpPr txBox="1"/>
          <p:nvPr/>
        </p:nvSpPr>
        <p:spPr>
          <a:xfrm>
            <a:off x="8763000" y="5397500"/>
            <a:ext cx="2540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300" b="1">
                <a:solidFill>
                  <a:srgbClr val="ADC0C5"/>
                </a:solidFill>
                <a:latin typeface="Arial" panose="020B0604020202020204" pitchFamily="34" charset="0"/>
              </a:rPr>
              <a:t>Absolute-Error Quantiles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F6A7-A55A-E0FF-6955-65779DDAE335}"/>
              </a:ext>
            </a:extLst>
          </p:cNvPr>
          <p:cNvSpPr txBox="1"/>
          <p:nvPr/>
        </p:nvSpPr>
        <p:spPr>
          <a:xfrm>
            <a:off x="1270000" y="5803900"/>
            <a:ext cx="10160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200">
                <a:solidFill>
                  <a:srgbClr val="F1F6F2"/>
                </a:solidFill>
                <a:latin typeface="Arial" panose="020B0604020202020204" pitchFamily="34" charset="0"/>
              </a:rPr>
              <a:t>P50  7.85 Wh       P90  41.13 Wh       P95  109.36 Wh       P99  297.15 Wh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ED8053-4034-45C0-9E76-E9A7008A4C50}"/>
              </a:ext>
            </a:extLst>
          </p:cNvPr>
          <p:cNvSpPr txBox="1"/>
          <p:nvPr/>
        </p:nvSpPr>
        <p:spPr>
          <a:xfrm>
            <a:off x="1117600" y="6146800"/>
            <a:ext cx="1028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00">
                <a:solidFill>
                  <a:srgbClr val="E3AA63"/>
                </a:solidFill>
                <a:latin typeface="Arial" panose="020B0604020202020204" pitchFamily="34" charset="0"/>
              </a:rPr>
              <a:t>Largest miss | Actual 580 Wh  ·  Predicted 59.72 Wh  ·  Absolute error 520.28 Wh</a:t>
            </a:r>
          </a:p>
        </p:txBody>
      </p:sp>
    </p:spTree>
    <p:extLst>
      <p:ext uri="{BB962C8B-B14F-4D97-AF65-F5344CB8AC3E}">
        <p14:creationId xmlns:p14="http://schemas.microsoft.com/office/powerpoint/2010/main" val="374319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39AA11-47BF-FEA2-3BE1-29675565CD19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567CB-AFED-4165-A92B-BD5DDB0ACCA6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Anomaly Detection: Synthetic Experiment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259165-1FB5-B1C5-858B-4F0E10E9C421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DFECD7-B74F-995C-A55B-F9BEFF3EDFAB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908C2-50DC-2539-E187-2D3391AA09E1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72077-26B6-2AC0-A17C-0B2F2A3D91E1}"/>
              </a:ext>
            </a:extLst>
          </p:cNvPr>
          <p:cNvSpPr txBox="1"/>
          <p:nvPr/>
        </p:nvSpPr>
        <p:spPr>
          <a:xfrm>
            <a:off x="1143000" y="1409700"/>
            <a:ext cx="1028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400">
                <a:solidFill>
                  <a:srgbClr val="ADC0C5"/>
                </a:solidFill>
                <a:latin typeface="Arial" panose="020B0604020202020204" pitchFamily="34" charset="0"/>
              </a:rPr>
              <a:t>No ground-truth anomaly labels are available. We injected 60 positive spikes at 2 standard deviations into a copy of the test set.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FDD6FC-9A3F-415D-2064-5A695D147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985834"/>
              </p:ext>
            </p:extLst>
          </p:nvPr>
        </p:nvGraphicFramePr>
        <p:xfrm>
          <a:off x="838200" y="2260600"/>
          <a:ext cx="105156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5500">
                  <a:extLst>
                    <a:ext uri="{9D8B030D-6E8A-4147-A177-3AD203B41FA5}">
                      <a16:colId xmlns:a16="http://schemas.microsoft.com/office/drawing/2014/main" val="351887750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216017096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29525684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180986521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122426007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Detector and threshold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F1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PR-AUC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7184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Residual threshold: validation p99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0.026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0.017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0.020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0.263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7329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Isolation Forest (training p99)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0.035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0.083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0.049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0.022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113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8762A0-A474-B893-F1A4-311FA2BA542D}"/>
              </a:ext>
            </a:extLst>
          </p:cNvPr>
          <p:cNvSpPr txBox="1"/>
          <p:nvPr/>
        </p:nvSpPr>
        <p:spPr>
          <a:xfrm>
            <a:off x="9271000" y="4152900"/>
            <a:ext cx="2095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 b="1">
                <a:solidFill>
                  <a:srgbClr val="A0E7D7"/>
                </a:solidFill>
                <a:latin typeface="Arial" panose="020B0604020202020204" pitchFamily="34" charset="0"/>
              </a:rPr>
              <a:t>Detection Workflow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F828A0-AD11-AC62-FF5E-02145ED6AD7D}"/>
              </a:ext>
            </a:extLst>
          </p:cNvPr>
          <p:cNvSpPr/>
          <p:nvPr/>
        </p:nvSpPr>
        <p:spPr>
          <a:xfrm>
            <a:off x="7810500" y="4648200"/>
            <a:ext cx="3175000" cy="6985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Forecast residuals
Validation threshold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909185-97E3-8C1D-72CD-EC20E50E50A7}"/>
              </a:ext>
            </a:extLst>
          </p:cNvPr>
          <p:cNvSpPr/>
          <p:nvPr/>
        </p:nvSpPr>
        <p:spPr>
          <a:xfrm>
            <a:off x="4064000" y="4648200"/>
            <a:ext cx="3175000" cy="6985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Isolation Forest
Fit on training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C0DAE7-0599-2B63-F21A-6929F36588A7}"/>
              </a:ext>
            </a:extLst>
          </p:cNvPr>
          <p:cNvSpPr/>
          <p:nvPr/>
        </p:nvSpPr>
        <p:spPr>
          <a:xfrm>
            <a:off x="850900" y="4648200"/>
            <a:ext cx="2730500" cy="6985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Review signal
Not an automated diagnosis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5056AE-A3D0-B060-B80F-E257504B946D}"/>
              </a:ext>
            </a:extLst>
          </p:cNvPr>
          <p:cNvCxnSpPr/>
          <p:nvPr/>
        </p:nvCxnSpPr>
        <p:spPr>
          <a:xfrm flipH="1">
            <a:off x="7289800" y="5003800"/>
            <a:ext cx="520700" cy="0"/>
          </a:xfrm>
          <a:prstGeom prst="straightConnector1">
            <a:avLst/>
          </a:prstGeom>
          <a:ln w="1524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3BC1A7-14E5-BDB9-8DAA-2F6177DA1E64}"/>
              </a:ext>
            </a:extLst>
          </p:cNvPr>
          <p:cNvCxnSpPr/>
          <p:nvPr/>
        </p:nvCxnSpPr>
        <p:spPr>
          <a:xfrm flipH="1">
            <a:off x="3632200" y="5003800"/>
            <a:ext cx="431800" cy="0"/>
          </a:xfrm>
          <a:prstGeom prst="straightConnector1">
            <a:avLst/>
          </a:prstGeom>
          <a:ln w="1524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AC292E-D1FC-561E-49B4-E52A413851C2}"/>
              </a:ext>
            </a:extLst>
          </p:cNvPr>
          <p:cNvSpPr txBox="1"/>
          <p:nvPr/>
        </p:nvSpPr>
        <p:spPr>
          <a:xfrm>
            <a:off x="1308100" y="5778500"/>
            <a:ext cx="1003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400" b="1">
                <a:solidFill>
                  <a:srgbClr val="E3AA63"/>
                </a:solidFill>
                <a:latin typeface="Arial" panose="020B0604020202020204" pitchFamily="34" charset="0"/>
              </a:rPr>
              <a:t>Scores are weak and depend on the synthetic injection design; they do not measure detection of natural events.</a:t>
            </a:r>
          </a:p>
        </p:txBody>
      </p:sp>
    </p:spTree>
    <p:extLst>
      <p:ext uri="{BB962C8B-B14F-4D97-AF65-F5344CB8AC3E}">
        <p14:creationId xmlns:p14="http://schemas.microsoft.com/office/powerpoint/2010/main" val="3598708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97E0A-F8C5-C25E-3243-059CC7DDACFE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EA526-6537-1410-A8AF-B7417A7A93BE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Interpretability and Feature Ablation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402E144-05F2-A916-559C-FCEC7787D90D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7F31682-CBF1-AC64-9F60-A60AE2D55767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65FE1-8821-E560-71EF-AC4BBFA9208B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4236D-F450-73E3-F3BB-BFC5B9207D1F}"/>
              </a:ext>
            </a:extLst>
          </p:cNvPr>
          <p:cNvSpPr txBox="1"/>
          <p:nvPr/>
        </p:nvSpPr>
        <p:spPr>
          <a:xfrm>
            <a:off x="5715000" y="1384300"/>
            <a:ext cx="5651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350" b="1">
                <a:solidFill>
                  <a:srgbClr val="A0E7D7"/>
                </a:solidFill>
                <a:latin typeface="Arial" panose="020B0604020202020204" pitchFamily="34" charset="0"/>
              </a:rPr>
              <a:t>Feature ablation • validation on HistGradientBoosting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D91391-0D99-832B-C2ED-78E0D5ED6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898618"/>
              </p:ext>
            </p:extLst>
          </p:nvPr>
        </p:nvGraphicFramePr>
        <p:xfrm>
          <a:off x="736600" y="1866900"/>
          <a:ext cx="10718800" cy="181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900">
                  <a:extLst>
                    <a:ext uri="{9D8B030D-6E8A-4147-A177-3AD203B41FA5}">
                      <a16:colId xmlns:a16="http://schemas.microsoft.com/office/drawing/2014/main" val="9840127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86089565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328798877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918173245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378505477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Feature set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Count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MAE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RMSE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932435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All features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22.121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57.325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039518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Without consumption history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22.265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57.473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52185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Top 20 mutual information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22.012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57.264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38396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388958-E75C-44A6-4A0F-ECDEF65CF6F9}"/>
              </a:ext>
            </a:extLst>
          </p:cNvPr>
          <p:cNvCxnSpPr/>
          <p:nvPr/>
        </p:nvCxnSpPr>
        <p:spPr>
          <a:xfrm>
            <a:off x="812800" y="4102100"/>
            <a:ext cx="105664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D4358A-9E7A-45CD-0CFA-BA66CFA62777}"/>
              </a:ext>
            </a:extLst>
          </p:cNvPr>
          <p:cNvSpPr txBox="1"/>
          <p:nvPr/>
        </p:nvSpPr>
        <p:spPr>
          <a:xfrm>
            <a:off x="6769100" y="4381500"/>
            <a:ext cx="4572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 b="1">
                <a:solidFill>
                  <a:srgbClr val="A0E7D7"/>
                </a:solidFill>
                <a:latin typeface="Arial" panose="020B0604020202020204" pitchFamily="34" charset="0"/>
              </a:rPr>
              <a:t>Strongest Signal in the Selected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0B530-42C8-BE6F-8097-27E867AFA2BC}"/>
              </a:ext>
            </a:extLst>
          </p:cNvPr>
          <p:cNvSpPr txBox="1"/>
          <p:nvPr/>
        </p:nvSpPr>
        <p:spPr>
          <a:xfrm>
            <a:off x="5397500" y="4838700"/>
            <a:ext cx="59436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200" b="1">
                <a:solidFill>
                  <a:srgbClr val="F1F6F2"/>
                </a:solidFill>
                <a:latin typeface="Arial" panose="020B0604020202020204" pitchFamily="34" charset="0"/>
              </a:rPr>
              <a:t>Current Appliance Energy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E9F5D-0303-F685-1BF6-3BFF7ADFAFEF}"/>
              </a:ext>
            </a:extLst>
          </p:cNvPr>
          <p:cNvSpPr txBox="1"/>
          <p:nvPr/>
        </p:nvSpPr>
        <p:spPr>
          <a:xfrm>
            <a:off x="1397000" y="5473700"/>
            <a:ext cx="99441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300">
                <a:solidFill>
                  <a:srgbClr val="ADC0C5"/>
                </a:solidFill>
                <a:latin typeface="Arial" panose="020B0604020202020204" pitchFamily="34" charset="0"/>
              </a:rPr>
              <a:t>Recent changes and lagged values follow. Reliance was measured as the change in mean absolute error on training data.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222F6-6FF3-CFE5-C511-43F48C474E8B}"/>
              </a:ext>
            </a:extLst>
          </p:cNvPr>
          <p:cNvSpPr txBox="1"/>
          <p:nvPr/>
        </p:nvSpPr>
        <p:spPr>
          <a:xfrm>
            <a:off x="4699000" y="6083300"/>
            <a:ext cx="660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250" b="1">
                <a:solidFill>
                  <a:srgbClr val="E3AA63"/>
                </a:solidFill>
                <a:latin typeface="Arial" panose="020B0604020202020204" pitchFamily="34" charset="0"/>
              </a:rPr>
              <a:t>Feature importance describes model reliance; it does not prove causation.</a:t>
            </a:r>
          </a:p>
        </p:txBody>
      </p:sp>
    </p:spTree>
    <p:extLst>
      <p:ext uri="{BB962C8B-B14F-4D97-AF65-F5344CB8AC3E}">
        <p14:creationId xmlns:p14="http://schemas.microsoft.com/office/powerpoint/2010/main" val="2263421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CEFAC0-8FCA-6613-BC66-53E3F3428065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1FA62-649C-AA3C-6EC9-07BE44444883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Application Interface: Overview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E258513-A349-94F6-3C68-96FBEEE70BC5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C39D28-162B-F0CC-74F8-610C772D4924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914E8-4CAC-52FD-3E5F-7E98FB23341F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4DEFAE-98D8-6698-8134-CC2ABE10E5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295400"/>
            <a:ext cx="9575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85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7F1C60-DB0E-BD35-0978-8F6C00F1E563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5C6BB-702F-D78F-84ED-4FB5E4091F89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Application Interface: Model Comparison and Dark Theme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3543D21-5E72-3946-7B76-AB48D647E540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551232-8798-6C7B-1C44-1886DB5E01B6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71294-30B5-E909-89B6-21E6CD05EEBB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D21058-4D57-93AF-7D08-9A5B64D795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295400"/>
            <a:ext cx="9575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96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04508A-1E45-D3E4-17C4-3C7E47DA9160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90BE8-CCAA-40D4-C144-F823C4E11F3E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Artifacts and Reproducibility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7C9C10-501C-1292-44B3-8AA44FECA7F4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DB0677-940D-BF14-F8A0-2C132FD77DBA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B649C-0C59-DE38-EEDB-86C309E27BEB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31551-E4EC-B101-B483-A32EAF3338D5}"/>
              </a:ext>
            </a:extLst>
          </p:cNvPr>
          <p:cNvSpPr txBox="1"/>
          <p:nvPr/>
        </p:nvSpPr>
        <p:spPr>
          <a:xfrm>
            <a:off x="8394700" y="1473200"/>
            <a:ext cx="2997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 b="1">
                <a:solidFill>
                  <a:srgbClr val="A0E7D7"/>
                </a:solidFill>
                <a:latin typeface="Arial" panose="020B0604020202020204" pitchFamily="34" charset="0"/>
              </a:rPr>
              <a:t>Key Project Artifacts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999583-4548-C2C4-CE81-46CE831A0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54683"/>
              </p:ext>
            </p:extLst>
          </p:nvPr>
        </p:nvGraphicFramePr>
        <p:xfrm>
          <a:off x="762000" y="1968500"/>
          <a:ext cx="10668000" cy="245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>
                  <a:extLst>
                    <a:ext uri="{9D8B030D-6E8A-4147-A177-3AD203B41FA5}">
                      <a16:colId xmlns:a16="http://schemas.microsoft.com/office/drawing/2014/main" val="2140486727"/>
                    </a:ext>
                  </a:extLst>
                </a:gridCol>
                <a:gridCol w="7556500">
                  <a:extLst>
                    <a:ext uri="{9D8B030D-6E8A-4147-A177-3AD203B41FA5}">
                      <a16:colId xmlns:a16="http://schemas.microsoft.com/office/drawing/2014/main" val="389538632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algn="l" rtl="1"/>
                      <a:r>
                        <a:rPr lang="en-US" sz="113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3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File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170646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Model and inference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artifacts/wattwise_bundle.joblib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426541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Candidate comparison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reports/model_comparison.csv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119109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Metrics and diagnostics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reports/metrics/final_metrics.json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903778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Artifact integrity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reports/metrics/artifact_manifest.json</a:t>
                      </a:r>
                      <a:endParaRPr lang="en-US" sz="113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93579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Test errors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reports/metrics/largest_test_errors.csv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70794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1B6CDA-3A4C-3636-FDEE-17DA0EAE2F34}"/>
              </a:ext>
            </a:extLst>
          </p:cNvPr>
          <p:cNvCxnSpPr/>
          <p:nvPr/>
        </p:nvCxnSpPr>
        <p:spPr>
          <a:xfrm>
            <a:off x="825500" y="4813300"/>
            <a:ext cx="105410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B7547D-C06D-3DC9-08F6-33660E6DBE00}"/>
              </a:ext>
            </a:extLst>
          </p:cNvPr>
          <p:cNvSpPr txBox="1"/>
          <p:nvPr/>
        </p:nvSpPr>
        <p:spPr>
          <a:xfrm>
            <a:off x="8890000" y="50292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 b="1">
                <a:solidFill>
                  <a:srgbClr val="A0E7D7"/>
                </a:solidFill>
                <a:latin typeface="Arial" panose="020B0604020202020204" pitchFamily="34" charset="0"/>
              </a:rPr>
              <a:t>Project Verification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A7C8E-3960-A925-3B01-25CCA66B69C0}"/>
              </a:ext>
            </a:extLst>
          </p:cNvPr>
          <p:cNvSpPr txBox="1"/>
          <p:nvPr/>
        </p:nvSpPr>
        <p:spPr>
          <a:xfrm>
            <a:off x="3619500" y="5473700"/>
            <a:ext cx="76835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350">
                <a:solidFill>
                  <a:srgbClr val="F1F6F2"/>
                </a:solidFill>
                <a:latin typeface="Arial" panose="020B0604020202020204" pitchFamily="34" charset="0"/>
              </a:rPr>
              <a:t>28 automated tests passed • code-quality and build checks passed
All four notebooks executed • application pages and model comparison reviewed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DECE4-474F-9619-F330-82CB5C661A8B}"/>
              </a:ext>
            </a:extLst>
          </p:cNvPr>
          <p:cNvSpPr txBox="1"/>
          <p:nvPr/>
        </p:nvSpPr>
        <p:spPr>
          <a:xfrm>
            <a:off x="1270000" y="6159500"/>
            <a:ext cx="825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100">
                <a:solidFill>
                  <a:srgbClr val="ADC0C5"/>
                </a:solidFill>
                <a:latin typeface="Arial" panose="020B0604020202020204" pitchFamily="34" charset="0"/>
              </a:rPr>
              <a:t>Train: python -m wattwise.train  |  UI: streamlit run app.py</a:t>
            </a:r>
          </a:p>
        </p:txBody>
      </p:sp>
    </p:spTree>
    <p:extLst>
      <p:ext uri="{BB962C8B-B14F-4D97-AF65-F5344CB8AC3E}">
        <p14:creationId xmlns:p14="http://schemas.microsoft.com/office/powerpoint/2010/main" val="704906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599511-DDD5-60ED-3160-55F1842225AF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948C-D3C0-49C5-E4F9-5EC026E5AE99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700" b="1">
                <a:solidFill>
                  <a:srgbClr val="F1F6F2"/>
                </a:solidFill>
                <a:latin typeface="Arial" panose="020B0604020202020204" pitchFamily="34" charset="0"/>
              </a:rPr>
              <a:t>Limitations and Next Steps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3601CF-82D8-F588-02CE-7E0292DA1C22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9CFD6ED-22E9-ED56-A2E7-7206B8BC90C7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5CDCF-0152-4EF2-3956-CE2C10C4D3C2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595284-83E2-1EAF-0B97-5273A8311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379168"/>
              </p:ext>
            </p:extLst>
          </p:nvPr>
        </p:nvGraphicFramePr>
        <p:xfrm>
          <a:off x="736600" y="1689100"/>
          <a:ext cx="10718800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68305713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277018113"/>
                    </a:ext>
                  </a:extLst>
                </a:gridCol>
              </a:tblGrid>
              <a:tr h="574040"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Area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Finding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455919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Limited generalization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One home and a limited time span; performance in other homes is untested.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96736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Consumption peaks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Errors are larger during high-demand intervals and the later time block.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281420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Anomaly labels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No verified real-world events are available to validate waste detection.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5460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Next steps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More homes, verified labels, drift monitoring, and uncertainty evaluation.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564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8F5252-9E25-DBA4-1E39-F6F02A41FD2F}"/>
              </a:ext>
            </a:extLst>
          </p:cNvPr>
          <p:cNvSpPr txBox="1"/>
          <p:nvPr/>
        </p:nvSpPr>
        <p:spPr>
          <a:xfrm>
            <a:off x="9309100" y="4953000"/>
            <a:ext cx="2032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1600" b="1">
                <a:solidFill>
                  <a:srgbClr val="A0E7D7"/>
                </a:solidFill>
                <a:latin typeface="Arial" panose="020B0604020202020204" pitchFamily="34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CB5A9-318C-787C-FB68-FAAC8D9A357B}"/>
              </a:ext>
            </a:extLst>
          </p:cNvPr>
          <p:cNvSpPr txBox="1"/>
          <p:nvPr/>
        </p:nvSpPr>
        <p:spPr>
          <a:xfrm>
            <a:off x="1333500" y="5372100"/>
            <a:ext cx="1003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en-US" sz="2000" b="1">
                <a:solidFill>
                  <a:srgbClr val="F1F6F2"/>
                </a:solidFill>
                <a:latin typeface="Arial" panose="020B0604020202020204" pitchFamily="34" charset="0"/>
              </a:rPr>
              <a:t>We forecast upcoming energy use and surface residuals to guide human review.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3D006-C840-5794-078B-EFF7880C78B0}"/>
              </a:ext>
            </a:extLst>
          </p:cNvPr>
          <p:cNvSpPr txBox="1"/>
          <p:nvPr/>
        </p:nvSpPr>
        <p:spPr>
          <a:xfrm>
            <a:off x="3302000" y="6070600"/>
            <a:ext cx="800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46C7B8"/>
                </a:solidFill>
                <a:latin typeface="Arial" panose="020B0604020202020204" pitchFamily="34" charset="0"/>
              </a:rPr>
              <a:t>WattWise AI  •  Advanced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799948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Office PowerPoint</Application>
  <PresentationFormat>Custom</PresentationFormat>
  <Paragraphs>355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Al Ghonimi</dc:creator>
  <cp:lastModifiedBy>Abdelrahman Al Ghonimi</cp:lastModifiedBy>
  <cp:revision>1</cp:revision>
  <dcterms:created xsi:type="dcterms:W3CDTF">2026-10-22T23:12:44Z</dcterms:created>
  <dcterms:modified xsi:type="dcterms:W3CDTF">2026-10-22T23:12:44Z</dcterms:modified>
</cp:coreProperties>
</file>