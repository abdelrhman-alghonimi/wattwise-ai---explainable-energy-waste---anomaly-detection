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1CC9C-C43A-43C3-B77E-47EDA550965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6474E-66EE-4FD6-9EE9-3600CAF72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9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عرض مشروع </a:t>
            </a:r>
            <a:r>
              <a:rPr lang="en-US"/>
              <a:t>WattWise AI. </a:t>
            </a:r>
            <a:r>
              <a:rPr lang="ar-SA"/>
              <a:t>تصميم الغلاف بصري توضيحي للمفهوم، وليس صورة لمنزل أو جهاز حقيقي.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6474E-66EE-4FD6-9EE9-3600CAF72A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1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/>
              <a:t>أسماء وأرقام أعضاء الفريق كما قدمها أصحاب المشروع.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6474E-66EE-4FD6-9EE9-3600CAF72A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61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UCI Machine Learning Repository, Appliances Energy Prediction. Candanedo, Feldheim &amp; Deramaix (2017), Energy and Buildings, DOI: 10.1016/j.enbuild.2017.01.083. Dataset facts are from the inspected source CSV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6474E-66EE-4FD6-9EE9-3600CAF72A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31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AB7E-5248-BD34-E3A7-17D9DC489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81057-5861-46F7-C692-03CCD4427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8419A-3DF7-5181-39C0-2AFC3AB7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D5DFD-673F-8608-F497-43B61365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56C27-1B0D-A9D1-04A4-8A549AA5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0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28E4-DB40-F1B4-140D-4579A1EEC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1598B-4EE6-9880-F569-28E895BCA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570CB-1A8B-1D82-0C13-D1050218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8C18-09C2-2082-0BB3-9BE2B1C8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34981-13E8-AD49-ADCC-10778296C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1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F838-9B66-01AC-A428-96AE58A5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41D6F-6186-F7D4-ED32-3805DDBA8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B9ABA-92DF-9554-9ABD-266E9012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B2258-9DA5-215D-CBD5-1484C4C4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B792-1182-F0DC-0177-7AF6751A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1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CC08-1323-3DFA-52B8-2D728187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06C0-8932-5997-8387-0C9541FAD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6053C-920D-C3AE-1014-F28BF9416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2BE7F-F91F-13BF-0F7E-CFF88E42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A3AC1-FB99-6A13-5711-EA7B4E16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30580-E7BE-7722-46C4-093152C6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8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0BF6-BC74-6F9B-DCE2-4DF28E25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FD895-6DD3-AF46-88D0-F68D0357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E8DDE-705C-0F7C-0EE8-D717E9131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FD6AA-3931-25B3-B453-66B87B2D4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07E3C-ADB9-A443-8EE2-CAFD86AC8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3F357-E280-9E9A-A9FF-3CCD0AF5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78BD5-112A-8567-6721-8F33F225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9505D-A3EA-74EE-7A47-B0D2AE39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0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8FD2-6900-BB29-9067-D0CD19C2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2A623-2605-ED79-DA7A-D7049C9B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4BAE2-553C-AAC6-0B4B-D018D27E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3DC79-38D1-A4BB-D569-D130E3FB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4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0AB48-DF06-1E00-AA4C-B2FE60FA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68EDA-40E8-DCFE-C661-8CE45EEA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358DC-9D7E-B01E-5EA2-56CF4C64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05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B7BA-EBA1-92DF-0078-D237AA6A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08DF-761F-E628-0020-BA7317BBC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5CDAA-5D92-20F3-06FD-DCC4BE4DF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B5128-5CA9-8E57-F40F-161CB355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08ACD-8A44-A431-D8BE-3B2AEF76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AF772-9058-6410-F60F-C7FA2875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3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D4DB-A0F9-E907-2008-DD8A2A89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FBAE0-098E-B7F1-45D1-65955AC82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1280B-7506-F7FF-9E74-36704B786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4841E-F612-F916-FFC1-60A9DC44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07C34-A2F4-ECA8-A54F-696D998C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CDCD9-24C8-C8D1-9363-8D8031EE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2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1C3C-0C1A-7062-0E40-207E1573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F5614-A5BB-3712-5689-9B48A7721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93DA-1010-E5FE-A836-D1FA2423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EDFA0-E0AC-606A-B6FD-9606D9B3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4C1C2-34E1-309B-1691-39C0F25C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44E0F-7EBA-F6A9-6A00-C7E20E3A5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D1E79-9DA9-50D0-955A-C0EFF4D1A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C9A67-68CB-C8C8-C864-095315A3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BDE0-8525-9033-2FEA-74087827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0CC58-8C30-14ED-CCE0-BF8FE644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9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6EE43-C72B-9FB5-8C21-152759A9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9B678-C187-D5F3-0BFC-3D9250279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5EEDB-3CDA-C6BF-896C-2D076A4FE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D9300-71A4-46A4-A6C6-EEEA0BA6371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2E555-4D75-5002-F2F2-285F5B766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AB337-4BE4-CC7C-C12E-999C162D4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0D85D-DDCB-4C01-BC26-E9DEADE6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0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6E8EF-523B-BC68-6209-19A9705FE3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5237C7-B022-F30A-475A-17C2F451516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B1720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0F17C-34EE-80D9-3ED0-5E5CA5EDBBB8}"/>
              </a:ext>
            </a:extLst>
          </p:cNvPr>
          <p:cNvSpPr txBox="1"/>
          <p:nvPr/>
        </p:nvSpPr>
        <p:spPr>
          <a:xfrm>
            <a:off x="660400" y="1625600"/>
            <a:ext cx="5397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3900" b="1">
                <a:solidFill>
                  <a:srgbClr val="F1F6F2"/>
                </a:solidFill>
                <a:latin typeface="Arial" panose="020B0604020202020204" pitchFamily="34" charset="0"/>
              </a:rPr>
              <a:t>WattWise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A4C4C-9495-A6BC-E5CA-D86D40A068C1}"/>
              </a:ext>
            </a:extLst>
          </p:cNvPr>
          <p:cNvSpPr/>
          <p:nvPr/>
        </p:nvSpPr>
        <p:spPr>
          <a:xfrm>
            <a:off x="685800" y="2628900"/>
            <a:ext cx="838200" cy="508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9E86E-8881-9F07-A533-10F5FE4547D8}"/>
              </a:ext>
            </a:extLst>
          </p:cNvPr>
          <p:cNvSpPr txBox="1"/>
          <p:nvPr/>
        </p:nvSpPr>
        <p:spPr>
          <a:xfrm>
            <a:off x="660400" y="2984500"/>
            <a:ext cx="5334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400" b="1">
                <a:solidFill>
                  <a:srgbClr val="F1F6F2"/>
                </a:solidFill>
                <a:latin typeface="Arial" panose="020B0604020202020204" pitchFamily="34" charset="0"/>
              </a:rPr>
              <a:t>التنبؤ باستهلاك الطاقة
وكشف الانحرافات غير المعتادة</a:t>
            </a:r>
            <a:endParaRPr lang="en-US" sz="24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18051-5875-B056-3444-FCB3315CAB0F}"/>
              </a:ext>
            </a:extLst>
          </p:cNvPr>
          <p:cNvSpPr txBox="1"/>
          <p:nvPr/>
        </p:nvSpPr>
        <p:spPr>
          <a:xfrm>
            <a:off x="660400" y="44958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700" b="1">
                <a:solidFill>
                  <a:srgbClr val="A0E7D7"/>
                </a:solidFill>
                <a:latin typeface="Arial" panose="020B0604020202020204" pitchFamily="34" charset="0"/>
              </a:rPr>
              <a:t>مشروع تعلم آلي متقدم</a:t>
            </a:r>
            <a:endParaRPr lang="en-US" sz="17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052D1-02AB-B092-C767-934191AB23C8}"/>
              </a:ext>
            </a:extLst>
          </p:cNvPr>
          <p:cNvSpPr txBox="1"/>
          <p:nvPr/>
        </p:nvSpPr>
        <p:spPr>
          <a:xfrm>
            <a:off x="660400" y="50165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>
                <a:solidFill>
                  <a:srgbClr val="ADC0C5"/>
                </a:solidFill>
                <a:latin typeface="Arial" panose="020B0604020202020204" pitchFamily="34" charset="0"/>
              </a:rPr>
              <a:t>توقع قصير الأجل • تفسير قابل للفهم • مراجعة بشرية</a:t>
            </a:r>
            <a:endParaRPr lang="en-US" sz="14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0D904-18C7-4D92-B31C-EC83EE44E9E0}"/>
              </a:ext>
            </a:extLst>
          </p:cNvPr>
          <p:cNvSpPr txBox="1"/>
          <p:nvPr/>
        </p:nvSpPr>
        <p:spPr>
          <a:xfrm>
            <a:off x="660400" y="6172200"/>
            <a:ext cx="533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00">
                <a:solidFill>
                  <a:srgbClr val="ADC0C5"/>
                </a:solidFill>
                <a:latin typeface="Arial" panose="020B0604020202020204" pitchFamily="34" charset="0"/>
              </a:rPr>
              <a:t>Advanced Machine Learning  |  2026</a:t>
            </a:r>
          </a:p>
        </p:txBody>
      </p:sp>
    </p:spTree>
    <p:extLst>
      <p:ext uri="{BB962C8B-B14F-4D97-AF65-F5344CB8AC3E}">
        <p14:creationId xmlns:p14="http://schemas.microsoft.com/office/powerpoint/2010/main" val="245133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7B8CBC-F973-BF09-82D6-E94FA5343D53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D83AC-995A-4411-0983-03FEB904EF9F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فريق المشروع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089260-A62D-03A3-E235-BC684B48C42E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50854F6-1B15-A409-FDBD-9B07374CE88A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1B4CE-CF52-CD89-7B6E-C1A738D1F494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49C45-AB21-AF8B-1272-DE03748B7A62}"/>
              </a:ext>
            </a:extLst>
          </p:cNvPr>
          <p:cNvSpPr txBox="1"/>
          <p:nvPr/>
        </p:nvSpPr>
        <p:spPr>
          <a:xfrm>
            <a:off x="7239000" y="1511300"/>
            <a:ext cx="419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900" b="1">
                <a:solidFill>
                  <a:srgbClr val="A0E7D7"/>
                </a:solidFill>
                <a:latin typeface="Arial" panose="020B0604020202020204" pitchFamily="34" charset="0"/>
              </a:rPr>
              <a:t>أعضاء الفريق</a:t>
            </a:r>
            <a:endParaRPr lang="en-US" sz="19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0E1B84-184B-AECA-3F72-2463A2382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58548"/>
              </p:ext>
            </p:extLst>
          </p:nvPr>
        </p:nvGraphicFramePr>
        <p:xfrm>
          <a:off x="685800" y="2082800"/>
          <a:ext cx="108204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152567275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15003219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273952699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 rtl="1"/>
                      <a:r>
                        <a:rPr lang="ar-SA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الاسم</a:t>
                      </a:r>
                      <a:endParaRPr lang="en-US" sz="135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الرقم الجامعي</a:t>
                      </a:r>
                      <a:endParaRPr lang="en-US" sz="135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3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الدور</a:t>
                      </a:r>
                      <a:endParaRPr lang="en-US" sz="135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89891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Abdelrhman Mohamed Ahmed Al Ghonimi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223101228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عضو فريق</a:t>
                      </a:r>
                      <a:endParaRPr lang="en-US" sz="13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07137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Denar Reda Roushdy Elsayed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223101171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عضو فريق</a:t>
                      </a:r>
                      <a:endParaRPr lang="en-US" sz="13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5129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Mariem Abd-Elhamied Abo-Shaeshaa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223101341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عضو فريق</a:t>
                      </a:r>
                      <a:endParaRPr lang="en-US" sz="13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2247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Shrouk Ashraf Seria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223101203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عضو فريق</a:t>
                      </a:r>
                      <a:endParaRPr lang="en-US" sz="13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2869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35824D2-8593-3176-A58D-DAE936A9E176}"/>
              </a:ext>
            </a:extLst>
          </p:cNvPr>
          <p:cNvSpPr txBox="1"/>
          <p:nvPr/>
        </p:nvSpPr>
        <p:spPr>
          <a:xfrm>
            <a:off x="8572500" y="4953000"/>
            <a:ext cx="279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>
                <a:solidFill>
                  <a:srgbClr val="ADC0C5"/>
                </a:solidFill>
                <a:latin typeface="Arial" panose="020B0604020202020204" pitchFamily="34" charset="0"/>
              </a:rPr>
              <a:t>المقرر</a:t>
            </a:r>
            <a:endParaRPr lang="en-US" sz="14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4DEBA-004D-481F-B999-A5CB35497485}"/>
              </a:ext>
            </a:extLst>
          </p:cNvPr>
          <p:cNvSpPr txBox="1"/>
          <p:nvPr/>
        </p:nvSpPr>
        <p:spPr>
          <a:xfrm>
            <a:off x="6604000" y="5359400"/>
            <a:ext cx="4775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1900" b="1">
                <a:solidFill>
                  <a:srgbClr val="F1F6F2"/>
                </a:solidFill>
                <a:latin typeface="Arial" panose="020B0604020202020204" pitchFamily="34" charset="0"/>
              </a:rPr>
              <a:t>Advanced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9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D22394-BA2A-5DDF-FD04-6C80B1BB70F8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535EE-A773-125C-FBAC-106E2E800B1A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المشكلة ونطاق الحل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F4F687-E540-B887-310F-BCFDDAE1A08D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1245BC-66CD-48E0-AD87-DCCB9CDB854C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9A28C-9CB8-0801-05D0-A6722DA931FF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2A294-ABA8-D48E-9F60-F88BEA66237C}"/>
              </a:ext>
            </a:extLst>
          </p:cNvPr>
          <p:cNvSpPr txBox="1"/>
          <p:nvPr/>
        </p:nvSpPr>
        <p:spPr>
          <a:xfrm>
            <a:off x="6350000" y="1511300"/>
            <a:ext cx="514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900" b="1">
                <a:solidFill>
                  <a:srgbClr val="A0E7D7"/>
                </a:solidFill>
                <a:latin typeface="Arial" panose="020B0604020202020204" pitchFamily="34" charset="0"/>
              </a:rPr>
              <a:t>السؤال الذي يعالجه المشروع</a:t>
            </a:r>
            <a:endParaRPr lang="en-US" sz="19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A33D77-18B8-19B5-66A3-CF04B5758A34}"/>
              </a:ext>
            </a:extLst>
          </p:cNvPr>
          <p:cNvSpPr txBox="1"/>
          <p:nvPr/>
        </p:nvSpPr>
        <p:spPr>
          <a:xfrm>
            <a:off x="1587500" y="20320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200" b="1">
                <a:solidFill>
                  <a:srgbClr val="F1F6F2"/>
                </a:solidFill>
                <a:latin typeface="Arial" panose="020B0604020202020204" pitchFamily="34" charset="0"/>
              </a:rPr>
              <a:t>ما مقدار استهلاك الأجهزة المنزلية في الفترة التالية، وهل يختلف الاستهلاك المرصود كثيرًا عن المتوقع؟</a:t>
            </a:r>
            <a:endParaRPr lang="en-US" sz="22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DD95EA-3E73-D9AA-FF75-49C7C3A942C1}"/>
              </a:ext>
            </a:extLst>
          </p:cNvPr>
          <p:cNvSpPr/>
          <p:nvPr/>
        </p:nvSpPr>
        <p:spPr>
          <a:xfrm>
            <a:off x="7112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قراءات المنزل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DFFCE-4004-EC7C-DF8B-6E8A14D1C355}"/>
              </a:ext>
            </a:extLst>
          </p:cNvPr>
          <p:cNvSpPr txBox="1"/>
          <p:nvPr/>
        </p:nvSpPr>
        <p:spPr>
          <a:xfrm>
            <a:off x="7112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ar-SA" sz="1150">
                <a:solidFill>
                  <a:srgbClr val="ADC0C5"/>
                </a:solidFill>
                <a:latin typeface="Arial" panose="020B0604020202020204" pitchFamily="34" charset="0"/>
              </a:rPr>
              <a:t>حساسات واستهلاك متاح عند الزمن </a:t>
            </a:r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F25820-F79B-EA04-93F2-E3113AE4CE29}"/>
              </a:ext>
            </a:extLst>
          </p:cNvPr>
          <p:cNvCxnSpPr/>
          <p:nvPr/>
        </p:nvCxnSpPr>
        <p:spPr>
          <a:xfrm>
            <a:off x="31750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6F3551-FA60-6FCC-AFD4-1ACB90735D28}"/>
              </a:ext>
            </a:extLst>
          </p:cNvPr>
          <p:cNvSpPr/>
          <p:nvPr/>
        </p:nvSpPr>
        <p:spPr>
          <a:xfrm>
            <a:off x="36195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توقع الفترة التالية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7B548-898E-B9EF-3F6D-7CA59C58BE39}"/>
              </a:ext>
            </a:extLst>
          </p:cNvPr>
          <p:cNvSpPr txBox="1"/>
          <p:nvPr/>
        </p:nvSpPr>
        <p:spPr>
          <a:xfrm>
            <a:off x="36195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ar-SA" sz="1150">
                <a:solidFill>
                  <a:srgbClr val="ADC0C5"/>
                </a:solidFill>
                <a:latin typeface="Arial" panose="020B0604020202020204" pitchFamily="34" charset="0"/>
              </a:rPr>
              <a:t>الاستهلاك المرصود عند الصف التالي</a:t>
            </a:r>
            <a:endParaRPr lang="en-US" sz="115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286C0E-1A4F-D745-39EF-1EAE7EDF837A}"/>
              </a:ext>
            </a:extLst>
          </p:cNvPr>
          <p:cNvCxnSpPr/>
          <p:nvPr/>
        </p:nvCxnSpPr>
        <p:spPr>
          <a:xfrm>
            <a:off x="60833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276B86-23DB-B801-FAD7-50A020BDFBE1}"/>
              </a:ext>
            </a:extLst>
          </p:cNvPr>
          <p:cNvSpPr/>
          <p:nvPr/>
        </p:nvSpPr>
        <p:spPr>
          <a:xfrm>
            <a:off x="65278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تحليل الانحراف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7044B-7819-5CA2-33C7-129711B0FC9A}"/>
              </a:ext>
            </a:extLst>
          </p:cNvPr>
          <p:cNvSpPr txBox="1"/>
          <p:nvPr/>
        </p:nvSpPr>
        <p:spPr>
          <a:xfrm>
            <a:off x="65278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ar-SA" sz="1150">
                <a:solidFill>
                  <a:srgbClr val="ADC0C5"/>
                </a:solidFill>
                <a:latin typeface="Arial" panose="020B0604020202020204" pitchFamily="34" charset="0"/>
              </a:rPr>
              <a:t>الفعلي − المتوقع</a:t>
            </a:r>
            <a:endParaRPr lang="en-US" sz="115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8D1303-635C-6120-63E0-5B9AB0B3F8C3}"/>
              </a:ext>
            </a:extLst>
          </p:cNvPr>
          <p:cNvCxnSpPr/>
          <p:nvPr/>
        </p:nvCxnSpPr>
        <p:spPr>
          <a:xfrm>
            <a:off x="8991600" y="3873500"/>
            <a:ext cx="381000" cy="0"/>
          </a:xfrm>
          <a:prstGeom prst="straightConnector1">
            <a:avLst/>
          </a:prstGeom>
          <a:ln w="1905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7FA581-E1AF-318D-2AB5-3E03F912504C}"/>
              </a:ext>
            </a:extLst>
          </p:cNvPr>
          <p:cNvSpPr/>
          <p:nvPr/>
        </p:nvSpPr>
        <p:spPr>
          <a:xfrm>
            <a:off x="9436100" y="3556000"/>
            <a:ext cx="2413000" cy="6350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مراجعة بشرية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5C3B28-23CF-9060-1ED7-FAF50F298219}"/>
              </a:ext>
            </a:extLst>
          </p:cNvPr>
          <p:cNvSpPr txBox="1"/>
          <p:nvPr/>
        </p:nvSpPr>
        <p:spPr>
          <a:xfrm>
            <a:off x="9436100" y="43307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 rtl="1"/>
            <a:r>
              <a:rPr lang="ar-SA" sz="1150">
                <a:solidFill>
                  <a:srgbClr val="ADC0C5"/>
                </a:solidFill>
                <a:latin typeface="Arial" panose="020B0604020202020204" pitchFamily="34" charset="0"/>
              </a:rPr>
              <a:t>إشارة تستحق الفحص</a:t>
            </a:r>
            <a:endParaRPr lang="en-US" sz="115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9A2E4-4014-7E00-B148-FC2D8F4F9B69}"/>
              </a:ext>
            </a:extLst>
          </p:cNvPr>
          <p:cNvSpPr txBox="1"/>
          <p:nvPr/>
        </p:nvSpPr>
        <p:spPr>
          <a:xfrm>
            <a:off x="1333500" y="55245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500" b="1">
                <a:solidFill>
                  <a:srgbClr val="E3AA63"/>
                </a:solidFill>
                <a:latin typeface="Arial" panose="020B0604020202020204" pitchFamily="34" charset="0"/>
              </a:rPr>
              <a:t>الانحراف ليس تشخيصًا للهدر أو عطلًا. لا تحتوي بيانات </a:t>
            </a:r>
            <a:r>
              <a:rPr lang="en-US" sz="1500" b="1">
                <a:solidFill>
                  <a:srgbClr val="E3AA63"/>
                </a:solidFill>
                <a:latin typeface="Arial" panose="020B0604020202020204" pitchFamily="34" charset="0"/>
              </a:rPr>
              <a:t>UCI </a:t>
            </a:r>
            <a:r>
              <a:rPr lang="ar-SA" sz="1500" b="1">
                <a:solidFill>
                  <a:srgbClr val="E3AA63"/>
                </a:solidFill>
                <a:latin typeface="Arial" panose="020B0604020202020204" pitchFamily="34" charset="0"/>
              </a:rPr>
              <a:t>على تسميات مؤكدة للهدر أو الأعطال.</a:t>
            </a:r>
            <a:endParaRPr lang="en-US" sz="1500" b="1">
              <a:solidFill>
                <a:srgbClr val="E3A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3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EA0A4C-A605-0C07-AC87-FB7963340ACB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858C1-A35A-7E57-558C-6352675EE849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البيانات ومصدرها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B66BF18-1085-61E2-6C3C-FAC76F34671C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F088E9-559E-717E-6084-F3A67C5CD399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98802-B53A-02E3-35AA-C5B814D68DEF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C8F11-94F4-2B8D-940A-6B1A127A3E4D}"/>
              </a:ext>
            </a:extLst>
          </p:cNvPr>
          <p:cNvSpPr txBox="1"/>
          <p:nvPr/>
        </p:nvSpPr>
        <p:spPr>
          <a:xfrm>
            <a:off x="6350000" y="1473200"/>
            <a:ext cx="508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1800" b="1">
                <a:solidFill>
                  <a:srgbClr val="A0E7D7"/>
                </a:solidFill>
                <a:latin typeface="Arial" panose="020B0604020202020204" pitchFamily="34" charset="0"/>
              </a:rPr>
              <a:t>UCI Appliances Energy Prediction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23329E-3362-5AF8-CE35-D0EAE1B7B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935488"/>
              </p:ext>
            </p:extLst>
          </p:nvPr>
        </p:nvGraphicFramePr>
        <p:xfrm>
          <a:off x="914400" y="2057400"/>
          <a:ext cx="103632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500">
                  <a:extLst>
                    <a:ext uri="{9D8B030D-6E8A-4147-A177-3AD203B41FA5}">
                      <a16:colId xmlns:a16="http://schemas.microsoft.com/office/drawing/2014/main" val="4284940832"/>
                    </a:ext>
                  </a:extLst>
                </a:gridCol>
                <a:gridCol w="4584700">
                  <a:extLst>
                    <a:ext uri="{9D8B030D-6E8A-4147-A177-3AD203B41FA5}">
                      <a16:colId xmlns:a16="http://schemas.microsoft.com/office/drawing/2014/main" val="4288597678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pPr algn="l" rtl="1"/>
                      <a:r>
                        <a:rPr lang="ar-SA" sz="14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البند</a:t>
                      </a:r>
                      <a:endParaRPr lang="en-US" sz="14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4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القيمة</a:t>
                      </a:r>
                      <a:endParaRPr lang="en-US" sz="14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898518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عدد المشاهدات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19,735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6227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عدد الأعمدة الأصلية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13123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الدقة الزمنية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10 دقائق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566358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المدة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يناير – مايو 2016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6691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القيم المفقودة / التكرار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 / 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19076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الهدف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4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استهلاك الأجهزة بوحدة واط-ساعة</a:t>
                      </a:r>
                      <a:endParaRPr lang="en-US" sz="14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327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E298ACD-A9E5-B01C-C89C-E2DF672C14F0}"/>
              </a:ext>
            </a:extLst>
          </p:cNvPr>
          <p:cNvSpPr txBox="1"/>
          <p:nvPr/>
        </p:nvSpPr>
        <p:spPr>
          <a:xfrm>
            <a:off x="914400" y="5422900"/>
            <a:ext cx="10363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>
                <a:solidFill>
                  <a:srgbClr val="ADC0C5"/>
                </a:solidFill>
                <a:latin typeface="Arial" panose="020B0604020202020204" pitchFamily="34" charset="0"/>
              </a:rPr>
              <a:t>UCI Machine Learning Repository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8F0FC-381E-1DAB-D6F4-E13B882E070D}"/>
              </a:ext>
            </a:extLst>
          </p:cNvPr>
          <p:cNvSpPr txBox="1"/>
          <p:nvPr/>
        </p:nvSpPr>
        <p:spPr>
          <a:xfrm>
            <a:off x="914400" y="5689600"/>
            <a:ext cx="10363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950">
                <a:solidFill>
                  <a:srgbClr val="ADC0C5"/>
                </a:solidFill>
                <a:latin typeface="Arial" panose="020B0604020202020204" pitchFamily="34" charset="0"/>
              </a:rPr>
              <a:t>archive.ics.uci.edu/dataset/374/appliances+energy+prediction</a:t>
            </a:r>
          </a:p>
        </p:txBody>
      </p:sp>
    </p:spTree>
    <p:extLst>
      <p:ext uri="{BB962C8B-B14F-4D97-AF65-F5344CB8AC3E}">
        <p14:creationId xmlns:p14="http://schemas.microsoft.com/office/powerpoint/2010/main" val="298579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02E06-4F4D-7272-5A82-E0A5298FD34C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C191D-BE6C-C1B0-536C-630A8235D74B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خط معالجة البيانات والتنبؤ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0B5DC7-F969-4E14-F89A-0CA9BF1BAEB3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D6E058D-2CC7-C0A5-E14A-8EBD2C52866F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C3917-B835-5D07-EB9F-373DACA0F5AB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BFD90A-89E6-D157-F5AC-BD0D1A8183FC}"/>
              </a:ext>
            </a:extLst>
          </p:cNvPr>
          <p:cNvSpPr/>
          <p:nvPr/>
        </p:nvSpPr>
        <p:spPr>
          <a:xfrm>
            <a:off x="53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بيانات </a:t>
            </a:r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UCI
19,735 </a:t>
            </a:r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صفًا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43EAE1-2D22-B078-0D7B-E6EEFEB896EF}"/>
              </a:ext>
            </a:extLst>
          </p:cNvPr>
          <p:cNvCxnSpPr/>
          <p:nvPr/>
        </p:nvCxnSpPr>
        <p:spPr>
          <a:xfrm>
            <a:off x="220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32DCF6-3345-085D-AA96-503DB932146D}"/>
              </a:ext>
            </a:extLst>
          </p:cNvPr>
          <p:cNvSpPr/>
          <p:nvPr/>
        </p:nvSpPr>
        <p:spPr>
          <a:xfrm>
            <a:off x="243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فحص وتنظيف
زمني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E6102D-6AEB-0EBB-974E-17076718E56C}"/>
              </a:ext>
            </a:extLst>
          </p:cNvPr>
          <p:cNvCxnSpPr/>
          <p:nvPr/>
        </p:nvCxnSpPr>
        <p:spPr>
          <a:xfrm>
            <a:off x="4114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665B64-DE51-B3A9-AA6F-9D5B1232EF69}"/>
              </a:ext>
            </a:extLst>
          </p:cNvPr>
          <p:cNvSpPr/>
          <p:nvPr/>
        </p:nvSpPr>
        <p:spPr>
          <a:xfrm>
            <a:off x="434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هندسة الخصائص
63 خاصية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80D611-27E9-7504-7F60-44AA7873F668}"/>
              </a:ext>
            </a:extLst>
          </p:cNvPr>
          <p:cNvCxnSpPr/>
          <p:nvPr/>
        </p:nvCxnSpPr>
        <p:spPr>
          <a:xfrm>
            <a:off x="601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273A9F-5B22-8467-5B57-F479185DC3BD}"/>
              </a:ext>
            </a:extLst>
          </p:cNvPr>
          <p:cNvSpPr/>
          <p:nvPr/>
        </p:nvSpPr>
        <p:spPr>
          <a:xfrm>
            <a:off x="624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تقسيم زمني
70 / 15 / 15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F41272-320E-8F6C-8BDC-5A13864F4424}"/>
              </a:ext>
            </a:extLst>
          </p:cNvPr>
          <p:cNvCxnSpPr/>
          <p:nvPr/>
        </p:nvCxnSpPr>
        <p:spPr>
          <a:xfrm>
            <a:off x="7924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374BFE-26ED-13D1-ECF9-2B93BE3F1F43}"/>
              </a:ext>
            </a:extLst>
          </p:cNvPr>
          <p:cNvSpPr/>
          <p:nvPr/>
        </p:nvSpPr>
        <p:spPr>
          <a:xfrm>
            <a:off x="8153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اختيار على
التحقق فقط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6A70B9-D74C-F393-17E6-5D215C9CCE10}"/>
              </a:ext>
            </a:extLst>
          </p:cNvPr>
          <p:cNvCxnSpPr/>
          <p:nvPr/>
        </p:nvCxnSpPr>
        <p:spPr>
          <a:xfrm>
            <a:off x="9829800" y="3111500"/>
            <a:ext cx="190500" cy="0"/>
          </a:xfrm>
          <a:prstGeom prst="straightConnector1">
            <a:avLst/>
          </a:prstGeom>
          <a:ln w="1778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328DE2-6F12-1706-ABF4-39E269278C1C}"/>
              </a:ext>
            </a:extLst>
          </p:cNvPr>
          <p:cNvSpPr/>
          <p:nvPr/>
        </p:nvSpPr>
        <p:spPr>
          <a:xfrm>
            <a:off x="10058400" y="2590800"/>
            <a:ext cx="1651000" cy="1041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اختبار محجوز
ثم مراجعة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FD6BF9-4691-8754-DEFB-12867771D81B}"/>
              </a:ext>
            </a:extLst>
          </p:cNvPr>
          <p:cNvCxnSpPr/>
          <p:nvPr/>
        </p:nvCxnSpPr>
        <p:spPr>
          <a:xfrm>
            <a:off x="850900" y="4267200"/>
            <a:ext cx="10490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C7DD7D-D8AF-B4CF-0529-8DA4A2D52CC3}"/>
              </a:ext>
            </a:extLst>
          </p:cNvPr>
          <p:cNvSpPr txBox="1"/>
          <p:nvPr/>
        </p:nvSpPr>
        <p:spPr>
          <a:xfrm>
            <a:off x="8636000" y="4572000"/>
            <a:ext cx="2692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 b="1">
                <a:solidFill>
                  <a:srgbClr val="A0E7D7"/>
                </a:solidFill>
                <a:latin typeface="Arial" panose="020B0604020202020204" pitchFamily="34" charset="0"/>
              </a:rPr>
              <a:t>منشأ التوقع</a:t>
            </a:r>
            <a:endParaRPr lang="en-US" sz="14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02B502-BBCF-98E4-7736-88FA6FD294E8}"/>
              </a:ext>
            </a:extLst>
          </p:cNvPr>
          <p:cNvSpPr txBox="1"/>
          <p:nvPr/>
        </p:nvSpPr>
        <p:spPr>
          <a:xfrm>
            <a:off x="889000" y="50038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>
                <a:solidFill>
                  <a:srgbClr val="F1F6F2"/>
                </a:solidFill>
                <a:latin typeface="Arial" panose="020B0604020202020204" pitchFamily="34" charset="0"/>
              </a:rPr>
              <a:t>عند الزمن </a:t>
            </a:r>
            <a:r>
              <a:rPr lang="en-US" sz="1600">
                <a:solidFill>
                  <a:srgbClr val="F1F6F2"/>
                </a:solidFill>
                <a:latin typeface="Arial" panose="020B0604020202020204" pitchFamily="34" charset="0"/>
              </a:rPr>
              <a:t>t: </a:t>
            </a:r>
            <a:r>
              <a:rPr lang="ar-SA" sz="1600">
                <a:solidFill>
                  <a:srgbClr val="F1F6F2"/>
                </a:solidFill>
                <a:latin typeface="Arial" panose="020B0604020202020204" pitchFamily="34" charset="0"/>
              </a:rPr>
              <a:t>قراءات الحساسات والاستهلاك الحالي والخصائص التاريخية المتاحة.</a:t>
            </a:r>
            <a:endParaRPr lang="en-US" sz="1600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FC374-E424-B225-42A2-88ABA47953E5}"/>
              </a:ext>
            </a:extLst>
          </p:cNvPr>
          <p:cNvSpPr txBox="1"/>
          <p:nvPr/>
        </p:nvSpPr>
        <p:spPr>
          <a:xfrm>
            <a:off x="889000" y="55118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>
                <a:solidFill>
                  <a:srgbClr val="ADC0C5"/>
                </a:solidFill>
                <a:latin typeface="Arial" panose="020B0604020202020204" pitchFamily="34" charset="0"/>
              </a:rPr>
              <a:t>الهدف: استهلاك الأجهزة المرصود عند الصف التالي، عادةً بعد 10 دقائق.</a:t>
            </a:r>
            <a:endParaRPr lang="en-US" sz="16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69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596000-2E73-F1AE-D2EA-2EB1D87DF861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4AE63-4B2B-E0E0-DE1D-4159BB90D990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هندسة الخصائص ومنع التسرب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A101FB-C372-FC41-41F9-C5812A4E36CE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3F085D-80FB-08F5-A630-20563ED456DE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49CBE-2F0F-D264-C311-AC388BB7726F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13D53-78BF-EE6B-377C-7222952914A6}"/>
              </a:ext>
            </a:extLst>
          </p:cNvPr>
          <p:cNvSpPr txBox="1"/>
          <p:nvPr/>
        </p:nvSpPr>
        <p:spPr>
          <a:xfrm>
            <a:off x="7239000" y="1473200"/>
            <a:ext cx="419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800" b="1">
                <a:solidFill>
                  <a:srgbClr val="A0E7D7"/>
                </a:solidFill>
                <a:latin typeface="Arial" panose="020B0604020202020204" pitchFamily="34" charset="0"/>
              </a:rPr>
              <a:t>63 خاصية في التجربة المسجلة</a:t>
            </a:r>
            <a:endParaRPr lang="en-US" sz="18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650E2A-EFDF-4119-A7BE-03C7B0143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526900"/>
              </p:ext>
            </p:extLst>
          </p:nvPr>
        </p:nvGraphicFramePr>
        <p:xfrm>
          <a:off x="736600" y="1993900"/>
          <a:ext cx="10718800" cy="280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195456719"/>
                    </a:ext>
                  </a:extLst>
                </a:gridCol>
                <a:gridCol w="6908800">
                  <a:extLst>
                    <a:ext uri="{9D8B030D-6E8A-4147-A177-3AD203B41FA5}">
                      <a16:colId xmlns:a16="http://schemas.microsoft.com/office/drawing/2014/main" val="1181399265"/>
                    </a:ext>
                  </a:extLst>
                </a:gridCol>
              </a:tblGrid>
              <a:tr h="467783">
                <a:tc>
                  <a:txBody>
                    <a:bodyPr/>
                    <a:lstStyle/>
                    <a:p>
                      <a:pPr algn="l" rtl="1"/>
                      <a:r>
                        <a:rPr lang="ar-SA" sz="127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مجموعة الخصائص</a:t>
                      </a:r>
                      <a:endParaRPr lang="en-US" sz="127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27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أمثلة</a:t>
                      </a:r>
                      <a:endParaRPr lang="en-US" sz="127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840602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الاستهلاك الحالي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appliances_current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8374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تأخيرات الاستهلاك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1، 2، 3، 6، 12، 144 عينة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22160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ملخصات متحركة مزاحة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متوسط وانحراف معياري لنافذة 3، 6، 12، 144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68742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تغيرات حديثة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الاستهلاك، الإضاءة، وقراءات مختارة للجو والرطوبة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334307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algn="l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وقت دوري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27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الساعة، اليوم، وعناصر دورية يومية وأسبوعية</a:t>
                      </a:r>
                      <a:endParaRPr lang="en-US" sz="127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551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DD0B57-F89C-13A0-1BFE-55835213BF52}"/>
              </a:ext>
            </a:extLst>
          </p:cNvPr>
          <p:cNvSpPr txBox="1"/>
          <p:nvPr/>
        </p:nvSpPr>
        <p:spPr>
          <a:xfrm>
            <a:off x="8255000" y="5067300"/>
            <a:ext cx="3048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ضوابط التسرب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47FBE-D13F-1CA8-7AB9-D7A21FE9F790}"/>
              </a:ext>
            </a:extLst>
          </p:cNvPr>
          <p:cNvSpPr txBox="1"/>
          <p:nvPr/>
        </p:nvSpPr>
        <p:spPr>
          <a:xfrm>
            <a:off x="1016000" y="5486400"/>
            <a:ext cx="10287000" cy="67390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>
                <a:solidFill>
                  <a:srgbClr val="ADC0C5"/>
                </a:solidFill>
                <a:latin typeface="Arial" panose="020B0604020202020204" pitchFamily="34" charset="0"/>
              </a:rPr>
              <a:t>• التعبئة للأمام من الماضي فقط؛ لا توجد تعبئة عكسية من المستقبل.
• النوافذ المتحركة مزاحة ولا تتضمن الهدف التالي.
• تقسيم زمني، وأزمنة الأهداف بين الأقسام غير متداخلة.</a:t>
            </a:r>
            <a:endParaRPr lang="en-US" sz="13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06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77B937-CCB1-7804-EBFC-4127C5D0DA21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31EC8-325E-D3DB-7FCA-7CFABA35D155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التقييم الزمني والنماذج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F467AE-B29D-FE0A-9F36-664FBD775953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9EDE9A7-7156-E731-F974-BEF5426A3B44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2ADEA-95CA-DB04-4F12-09D03CC39EA4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7C960-7037-B01E-7F5F-55FEF67F903C}"/>
              </a:ext>
            </a:extLst>
          </p:cNvPr>
          <p:cNvSpPr txBox="1"/>
          <p:nvPr/>
        </p:nvSpPr>
        <p:spPr>
          <a:xfrm>
            <a:off x="8763000" y="1460500"/>
            <a:ext cx="266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700" b="1">
                <a:solidFill>
                  <a:srgbClr val="A0E7D7"/>
                </a:solidFill>
                <a:latin typeface="Arial" panose="020B0604020202020204" pitchFamily="34" charset="0"/>
              </a:rPr>
              <a:t>التقسيم الزمني</a:t>
            </a:r>
            <a:endParaRPr lang="en-US" sz="17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99FAA-599C-A82C-DE0F-1F83D94D7CE2}"/>
              </a:ext>
            </a:extLst>
          </p:cNvPr>
          <p:cNvSpPr/>
          <p:nvPr/>
        </p:nvSpPr>
        <p:spPr>
          <a:xfrm>
            <a:off x="863600" y="2082800"/>
            <a:ext cx="7325360" cy="6350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67D57-EB26-196E-D230-30E61D6CB49F}"/>
              </a:ext>
            </a:extLst>
          </p:cNvPr>
          <p:cNvSpPr/>
          <p:nvPr/>
        </p:nvSpPr>
        <p:spPr>
          <a:xfrm>
            <a:off x="8188960" y="2082800"/>
            <a:ext cx="1569720" cy="635000"/>
          </a:xfrm>
          <a:prstGeom prst="rect">
            <a:avLst/>
          </a:prstGeom>
          <a:solidFill>
            <a:srgbClr val="E3A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5DDA54-E319-F2E4-D22A-101AD7461852}"/>
              </a:ext>
            </a:extLst>
          </p:cNvPr>
          <p:cNvSpPr/>
          <p:nvPr/>
        </p:nvSpPr>
        <p:spPr>
          <a:xfrm>
            <a:off x="9758680" y="2082800"/>
            <a:ext cx="1569720" cy="635000"/>
          </a:xfrm>
          <a:prstGeom prst="rect">
            <a:avLst/>
          </a:prstGeom>
          <a:solidFill>
            <a:srgbClr val="A0E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B7280-DBAC-E9C9-7753-E663C31CE79A}"/>
              </a:ext>
            </a:extLst>
          </p:cNvPr>
          <p:cNvSpPr txBox="1"/>
          <p:nvPr/>
        </p:nvSpPr>
        <p:spPr>
          <a:xfrm>
            <a:off x="990600" y="2209800"/>
            <a:ext cx="707136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0201E"/>
                </a:solidFill>
                <a:latin typeface="Arial" panose="020B0604020202020204" pitchFamily="34" charset="0"/>
              </a:rPr>
              <a:t>Train 70%  |  n=13,713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AC3E9-5FE7-4178-7247-62F7D30661D3}"/>
              </a:ext>
            </a:extLst>
          </p:cNvPr>
          <p:cNvSpPr txBox="1"/>
          <p:nvPr/>
        </p:nvSpPr>
        <p:spPr>
          <a:xfrm>
            <a:off x="8188960" y="2209800"/>
            <a:ext cx="156972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10201E"/>
                </a:solidFill>
                <a:latin typeface="Arial" panose="020B0604020202020204" pitchFamily="34" charset="0"/>
              </a:rPr>
              <a:t>Validation 15%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B36D4-D2DD-20F9-26AD-9C331F5CBD48}"/>
              </a:ext>
            </a:extLst>
          </p:cNvPr>
          <p:cNvSpPr txBox="1"/>
          <p:nvPr/>
        </p:nvSpPr>
        <p:spPr>
          <a:xfrm>
            <a:off x="9758680" y="2209800"/>
            <a:ext cx="156972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10201E"/>
                </a:solidFill>
                <a:latin typeface="Arial" panose="020B0604020202020204" pitchFamily="34" charset="0"/>
              </a:rPr>
              <a:t>Test 15%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35E81-D5E7-E9DD-40DF-EC08392A4D09}"/>
              </a:ext>
            </a:extLst>
          </p:cNvPr>
          <p:cNvSpPr txBox="1"/>
          <p:nvPr/>
        </p:nvSpPr>
        <p:spPr>
          <a:xfrm>
            <a:off x="2159000" y="2908300"/>
            <a:ext cx="787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50">
                <a:solidFill>
                  <a:srgbClr val="ADC0C5"/>
                </a:solidFill>
                <a:latin typeface="Arial" panose="020B0604020202020204" pitchFamily="34" charset="0"/>
              </a:rPr>
              <a:t>Train 13,713  |  Validation 2,938  |  Test 2,939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E549FD-F285-543B-10B8-71139B4547D6}"/>
              </a:ext>
            </a:extLst>
          </p:cNvPr>
          <p:cNvCxnSpPr/>
          <p:nvPr/>
        </p:nvCxnSpPr>
        <p:spPr>
          <a:xfrm>
            <a:off x="825500" y="34925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A2E5A7-7285-2E65-05C7-9D573C55BDB6}"/>
              </a:ext>
            </a:extLst>
          </p:cNvPr>
          <p:cNvSpPr txBox="1"/>
          <p:nvPr/>
        </p:nvSpPr>
        <p:spPr>
          <a:xfrm>
            <a:off x="8255000" y="3746500"/>
            <a:ext cx="311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700" b="1">
                <a:solidFill>
                  <a:srgbClr val="A0E7D7"/>
                </a:solidFill>
                <a:latin typeface="Arial" panose="020B0604020202020204" pitchFamily="34" charset="0"/>
              </a:rPr>
              <a:t>النماذج المقارنة</a:t>
            </a:r>
            <a:endParaRPr lang="en-US" sz="17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F72AE-ACAE-1A4F-D81D-F4BFF10F9D66}"/>
              </a:ext>
            </a:extLst>
          </p:cNvPr>
          <p:cNvSpPr txBox="1"/>
          <p:nvPr/>
        </p:nvSpPr>
        <p:spPr>
          <a:xfrm>
            <a:off x="5334000" y="4279900"/>
            <a:ext cx="5969000" cy="88998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F1F6F2"/>
                </a:solidFill>
                <a:latin typeface="Arial" panose="020B0604020202020204" pitchFamily="34" charset="0"/>
              </a:rPr>
              <a:t>Baselines: Persistence, Dummy, Ridge
Forests: Random Forest, Extra Trees
Boosting: HistGradientBoosting, XGBoost
Ensembles: Voting (top 3), Temporal Stacking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E1C055-B983-0007-F9B5-BE0377B7EDC7}"/>
              </a:ext>
            </a:extLst>
          </p:cNvPr>
          <p:cNvSpPr txBox="1"/>
          <p:nvPr/>
        </p:nvSpPr>
        <p:spPr>
          <a:xfrm>
            <a:off x="736600" y="5930900"/>
            <a:ext cx="1069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 b="1">
                <a:solidFill>
                  <a:srgbClr val="E3AA63"/>
                </a:solidFill>
                <a:latin typeface="Arial" panose="020B0604020202020204" pitchFamily="34" charset="0"/>
              </a:rPr>
              <a:t>اختيار النموذج وعتبة البواقي من التحقق. الاختبار لا يدخل في الاختيار.</a:t>
            </a:r>
            <a:endParaRPr lang="en-US" sz="1400" b="1">
              <a:solidFill>
                <a:srgbClr val="E3A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0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0E6219-AD7C-B3C6-618A-BCA7F8CDCB1C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8FBB7-882C-8044-4657-24ECEC1469EF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ضبط المعاملات وبناء التجميع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9FEDD53-BA5C-5E9B-5ECA-AE9B810BF80C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20E2B3-61E6-D815-FE91-39DC92BF47FD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B3CBD-CC53-F1A9-E652-9AD4E3E2347E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08527-FBFC-F9F6-13B6-78FFE110D2C5}"/>
              </a:ext>
            </a:extLst>
          </p:cNvPr>
          <p:cNvSpPr txBox="1"/>
          <p:nvPr/>
        </p:nvSpPr>
        <p:spPr>
          <a:xfrm>
            <a:off x="8445500" y="1473200"/>
            <a:ext cx="2984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700" b="1">
                <a:solidFill>
                  <a:srgbClr val="A0E7D7"/>
                </a:solidFill>
                <a:latin typeface="Arial" panose="020B0604020202020204" pitchFamily="34" charset="0"/>
              </a:rPr>
              <a:t>تحقق زمني متوسع</a:t>
            </a:r>
            <a:endParaRPr lang="en-US" sz="17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7C454E-AD57-9AE1-14F6-41587777D5D0}"/>
              </a:ext>
            </a:extLst>
          </p:cNvPr>
          <p:cNvSpPr/>
          <p:nvPr/>
        </p:nvSpPr>
        <p:spPr>
          <a:xfrm>
            <a:off x="82550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النماذج الأساسية
3 طيات متوسعة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9D4BB0-039F-C878-5EAA-2EE961153E4E}"/>
              </a:ext>
            </a:extLst>
          </p:cNvPr>
          <p:cNvSpPr/>
          <p:nvPr/>
        </p:nvSpPr>
        <p:spPr>
          <a:xfrm>
            <a:off x="45085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النموذج المحسّن
3 طيات خارجية × 3 داخلية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88C563-C025-270D-3603-2E64C0AEB79F}"/>
              </a:ext>
            </a:extLst>
          </p:cNvPr>
          <p:cNvSpPr/>
          <p:nvPr/>
        </p:nvSpPr>
        <p:spPr>
          <a:xfrm>
            <a:off x="762000" y="2006600"/>
            <a:ext cx="3111500" cy="7874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Optuna
MAE tuning inside training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9B88D5-D661-CAE2-168D-91225A8C5FA7}"/>
              </a:ext>
            </a:extLst>
          </p:cNvPr>
          <p:cNvCxnSpPr/>
          <p:nvPr/>
        </p:nvCxnSpPr>
        <p:spPr>
          <a:xfrm flipH="1">
            <a:off x="7658100" y="2400300"/>
            <a:ext cx="596900" cy="0"/>
          </a:xfrm>
          <a:prstGeom prst="straightConnector1">
            <a:avLst/>
          </a:prstGeom>
          <a:ln w="1651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57A38B-C4D8-B2B9-F9C5-BF31CD625035}"/>
              </a:ext>
            </a:extLst>
          </p:cNvPr>
          <p:cNvCxnSpPr/>
          <p:nvPr/>
        </p:nvCxnSpPr>
        <p:spPr>
          <a:xfrm flipH="1">
            <a:off x="3911600" y="2400300"/>
            <a:ext cx="596900" cy="0"/>
          </a:xfrm>
          <a:prstGeom prst="straightConnector1">
            <a:avLst/>
          </a:prstGeom>
          <a:ln w="1651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3BC973-D3C8-84B4-3160-934516D9DDC9}"/>
              </a:ext>
            </a:extLst>
          </p:cNvPr>
          <p:cNvSpPr txBox="1"/>
          <p:nvPr/>
        </p:nvSpPr>
        <p:spPr>
          <a:xfrm>
            <a:off x="10033000" y="3314700"/>
            <a:ext cx="133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700" b="1">
                <a:solidFill>
                  <a:srgbClr val="A0E7D7"/>
                </a:solidFill>
                <a:latin typeface="Arial" panose="020B0604020202020204" pitchFamily="34" charset="0"/>
              </a:rPr>
              <a:t>التجميع</a:t>
            </a:r>
            <a:endParaRPr lang="en-US" sz="17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D0C99-99B0-1DD3-8352-6ECDF667BE2A}"/>
              </a:ext>
            </a:extLst>
          </p:cNvPr>
          <p:cNvSpPr txBox="1"/>
          <p:nvPr/>
        </p:nvSpPr>
        <p:spPr>
          <a:xfrm>
            <a:off x="1143000" y="3797300"/>
            <a:ext cx="101600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500">
                <a:solidFill>
                  <a:srgbClr val="F1F6F2"/>
                </a:solidFill>
                <a:latin typeface="Arial" panose="020B0604020202020204" pitchFamily="34" charset="0"/>
              </a:rPr>
              <a:t>التصويت: متوسط متساوٍ لأفضل ثلاثة نماذج حسب خطأ التحقق.
التجميع التتابعي: تنبؤات زمنية خارج الطية تدرب نموذجًا خطيًا فوقيًا.</a:t>
            </a:r>
            <a:endParaRPr lang="en-US" sz="1500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ACAAC7-38D4-88CD-C326-484FE506779B}"/>
              </a:ext>
            </a:extLst>
          </p:cNvPr>
          <p:cNvCxnSpPr/>
          <p:nvPr/>
        </p:nvCxnSpPr>
        <p:spPr>
          <a:xfrm>
            <a:off x="838200" y="4851400"/>
            <a:ext cx="105156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994388-D41D-6DBC-6115-B80E6AB5BDD7}"/>
              </a:ext>
            </a:extLst>
          </p:cNvPr>
          <p:cNvSpPr txBox="1"/>
          <p:nvPr/>
        </p:nvSpPr>
        <p:spPr>
          <a:xfrm>
            <a:off x="8763000" y="5080000"/>
            <a:ext cx="2603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500" b="1">
                <a:solidFill>
                  <a:srgbClr val="A0E7D7"/>
                </a:solidFill>
                <a:latin typeface="Arial" panose="020B0604020202020204" pitchFamily="34" charset="0"/>
              </a:rPr>
              <a:t>قبل المقارنة النهائية</a:t>
            </a:r>
            <a:endParaRPr lang="en-US" sz="15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A15EB-E9E5-585B-2EA1-D3212C089741}"/>
              </a:ext>
            </a:extLst>
          </p:cNvPr>
          <p:cNvSpPr txBox="1"/>
          <p:nvPr/>
        </p:nvSpPr>
        <p:spPr>
          <a:xfrm>
            <a:off x="1143000" y="5486400"/>
            <a:ext cx="1016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>
                <a:solidFill>
                  <a:srgbClr val="ADC0C5"/>
                </a:solidFill>
                <a:latin typeface="Arial" panose="020B0604020202020204" pitchFamily="34" charset="0"/>
              </a:rPr>
              <a:t>أُعيد ملاءمة المرشحين على التدريب والتحقق نفسيهما، ثم قُيّموا على صفوف الاختبار ذاتها. لا نقدّر التجميع عبر الطيات، لأنه اختير باستخدام التحقق.</a:t>
            </a:r>
            <a:endParaRPr lang="en-US" sz="14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56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D92E21-384B-1C03-42B6-843C383412A5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A03DE-8D42-CF98-0CA1-B0D47542AA77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اختيار النموذج على التحقق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6B08A78-08CA-80F3-01FF-82CF5DDA7DB7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E02F9B-404A-3A38-9012-2D79F0CA89B7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8E657-E2E5-5BF5-B61B-0AF01B78A0C9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75AC7-FE09-7C61-D10B-31A3CE426E0B}"/>
              </a:ext>
            </a:extLst>
          </p:cNvPr>
          <p:cNvSpPr txBox="1"/>
          <p:nvPr/>
        </p:nvSpPr>
        <p:spPr>
          <a:xfrm>
            <a:off x="5969000" y="1409700"/>
            <a:ext cx="546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500" b="1">
                <a:solidFill>
                  <a:srgbClr val="A0E7D7"/>
                </a:solidFill>
                <a:latin typeface="Arial" panose="020B0604020202020204" pitchFamily="34" charset="0"/>
              </a:rPr>
              <a:t>Selection metric: minimum validation MAE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47CD23-AC04-F2C0-97AA-16729441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336750"/>
              </p:ext>
            </p:extLst>
          </p:nvPr>
        </p:nvGraphicFramePr>
        <p:xfrm>
          <a:off x="876300" y="1993900"/>
          <a:ext cx="10439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1400">
                  <a:extLst>
                    <a:ext uri="{9D8B030D-6E8A-4147-A177-3AD203B41FA5}">
                      <a16:colId xmlns:a16="http://schemas.microsoft.com/office/drawing/2014/main" val="31390271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433063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947408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0907623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 rtl="1"/>
                      <a:r>
                        <a:rPr lang="ar-SA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النموذج</a:t>
                      </a:r>
                      <a:endParaRPr lang="en-US" sz="13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5676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Voting (top 3)  ✓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21.939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56.356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0.610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282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HistGradientBoosting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21.989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56.821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30679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22.121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989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22.335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55.860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0.617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8373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F189D08-3130-4AED-005B-FEE4137446D0}"/>
              </a:ext>
            </a:extLst>
          </p:cNvPr>
          <p:cNvSpPr txBox="1"/>
          <p:nvPr/>
        </p:nvSpPr>
        <p:spPr>
          <a:xfrm>
            <a:off x="8890000" y="46355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500">
                <a:solidFill>
                  <a:srgbClr val="ADC0C5"/>
                </a:solidFill>
                <a:latin typeface="Arial" panose="020B0604020202020204" pitchFamily="34" charset="0"/>
              </a:rPr>
              <a:t>النموذج المختار</a:t>
            </a:r>
            <a:endParaRPr lang="en-US" sz="15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976D0-A4B4-434E-D318-3B39BF519768}"/>
              </a:ext>
            </a:extLst>
          </p:cNvPr>
          <p:cNvSpPr txBox="1"/>
          <p:nvPr/>
        </p:nvSpPr>
        <p:spPr>
          <a:xfrm>
            <a:off x="6121400" y="5041900"/>
            <a:ext cx="520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r"/>
            <a:r>
              <a:rPr lang="en-US" sz="2700" b="1">
                <a:solidFill>
                  <a:srgbClr val="A0E7D7"/>
                </a:solidFill>
                <a:latin typeface="Arial" panose="020B0604020202020204" pitchFamily="34" charset="0"/>
              </a:rPr>
              <a:t>Voting (top 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B47FE-4FB8-17C5-17AF-37C9896AEE8D}"/>
              </a:ext>
            </a:extLst>
          </p:cNvPr>
          <p:cNvSpPr txBox="1"/>
          <p:nvPr/>
        </p:nvSpPr>
        <p:spPr>
          <a:xfrm>
            <a:off x="1397000" y="57785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50">
                <a:solidFill>
                  <a:srgbClr val="ADC0C5"/>
                </a:solidFill>
                <a:latin typeface="Arial" panose="020B0604020202020204" pitchFamily="34" charset="0"/>
              </a:rPr>
              <a:t>Equal weights: Tuned HistGradientBoosting  |  HistGradientBoosting  |  XGBoost</a:t>
            </a:r>
          </a:p>
        </p:txBody>
      </p:sp>
    </p:spTree>
    <p:extLst>
      <p:ext uri="{BB962C8B-B14F-4D97-AF65-F5344CB8AC3E}">
        <p14:creationId xmlns:p14="http://schemas.microsoft.com/office/powerpoint/2010/main" val="9473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3DDFE-BE4C-B72D-A152-5BE035E7886B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86A66-B9CB-8E92-9BF4-FA47401F25E3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مقارنة النماذج على الاختبار المحجوز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F1AA645-186E-56BC-6AFF-0498105ED238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B0C140-90A3-4DAB-5FEF-4C34625AF3DA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E008E-33E7-6676-2B62-CC7EA01D9FED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14C8A-E185-A79A-322E-FD3759AF64E6}"/>
              </a:ext>
            </a:extLst>
          </p:cNvPr>
          <p:cNvSpPr txBox="1"/>
          <p:nvPr/>
        </p:nvSpPr>
        <p:spPr>
          <a:xfrm>
            <a:off x="4254500" y="1295400"/>
            <a:ext cx="7175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>
                <a:solidFill>
                  <a:srgbClr val="ADC0C5"/>
                </a:solidFill>
                <a:latin typeface="Arial" panose="020B0604020202020204" pitchFamily="34" charset="0"/>
              </a:rPr>
              <a:t>n = 2,939  |  MAE / RMSE: Wh per 10 min  |  R²: unitless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D76A6A-BB6C-5FC9-C3CE-D20AAE4A9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925142"/>
              </p:ext>
            </p:extLst>
          </p:nvPr>
        </p:nvGraphicFramePr>
        <p:xfrm>
          <a:off x="584200" y="1676400"/>
          <a:ext cx="11023600" cy="405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144745958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51458166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71755599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973793751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738475578"/>
                    </a:ext>
                  </a:extLst>
                </a:gridCol>
              </a:tblGrid>
              <a:tr h="337608">
                <a:tc>
                  <a:txBody>
                    <a:bodyPr/>
                    <a:lstStyle/>
                    <a:p>
                      <a:pPr algn="l" rtl="1"/>
                      <a:r>
                        <a:rPr lang="ar-SA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النموذج</a:t>
                      </a:r>
                      <a:endParaRPr lang="en-US" sz="11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1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الاختيار</a:t>
                      </a:r>
                      <a:endParaRPr lang="en-US" sz="11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697981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22.268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58.872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06571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Voting (top 3)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22.385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58.723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مختار</a:t>
                      </a:r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68880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22.662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59.814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24137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22.820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58.326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158158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Temporal Stacking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23.722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57.941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912818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Extra Trees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26.159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085953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 (squared)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26.644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57.693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49812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Persistence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26.723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66.786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0.461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364386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Ridge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27.878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59.990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91944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Random Forest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28.987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58.660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280165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Dummy mean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52.354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90.977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-0.000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515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966AAB-06C7-41A3-3524-4D2517857194}"/>
              </a:ext>
            </a:extLst>
          </p:cNvPr>
          <p:cNvSpPr txBox="1"/>
          <p:nvPr/>
        </p:nvSpPr>
        <p:spPr>
          <a:xfrm>
            <a:off x="965200" y="58547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50" b="1">
                <a:solidFill>
                  <a:srgbClr val="E3AA63"/>
                </a:solidFill>
                <a:latin typeface="Arial" panose="020B0604020202020204" pitchFamily="34" charset="0"/>
              </a:rPr>
              <a:t>Retrospective test leaders — MAE: Tuned HistGradientBoosting  |  RMSE: Extra Trees</a:t>
            </a:r>
          </a:p>
        </p:txBody>
      </p:sp>
    </p:spTree>
    <p:extLst>
      <p:ext uri="{BB962C8B-B14F-4D97-AF65-F5344CB8AC3E}">
        <p14:creationId xmlns:p14="http://schemas.microsoft.com/office/powerpoint/2010/main" val="802727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C3A268-F42B-BD98-ADF4-1B4EAED51822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8BB4-E98A-D4ED-A80E-AA7FCD3D043B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نتائج التحقق الزمني داخل التدريب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AF241E4-0D2C-CED0-72AE-DC2A9D35B806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E68281-877A-0FD2-1A0C-771E802DE2BC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7B3F2-1210-5352-01F9-2782494157B7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247A2-AE4B-320B-A034-71BB11F85987}"/>
              </a:ext>
            </a:extLst>
          </p:cNvPr>
          <p:cNvSpPr txBox="1"/>
          <p:nvPr/>
        </p:nvSpPr>
        <p:spPr>
          <a:xfrm>
            <a:off x="6019800" y="1295400"/>
            <a:ext cx="5397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00">
                <a:solidFill>
                  <a:srgbClr val="ADC0C5"/>
                </a:solidFill>
                <a:latin typeface="Arial" panose="020B0604020202020204" pitchFamily="34" charset="0"/>
              </a:rPr>
              <a:t>3 expanding folds  |  mean ± population standard deviation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106B8E-4D30-04BA-F9D3-75AD7380F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76330"/>
              </p:ext>
            </p:extLst>
          </p:nvPr>
        </p:nvGraphicFramePr>
        <p:xfrm>
          <a:off x="622300" y="1663700"/>
          <a:ext cx="10947400" cy="408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400">
                  <a:extLst>
                    <a:ext uri="{9D8B030D-6E8A-4147-A177-3AD203B41FA5}">
                      <a16:colId xmlns:a16="http://schemas.microsoft.com/office/drawing/2014/main" val="410028724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51149220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8893864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734612892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pPr algn="l" rtl="1"/>
                      <a:r>
                        <a:rPr lang="ar-SA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النموذج</a:t>
                      </a:r>
                      <a:endParaRPr lang="en-US" sz="106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MAE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RMSE · Wh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06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CV 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976896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Persistence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30.387 ± 1.021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73.219 ± 1.493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0.480 ± 0.027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84824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Dummy mean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60.099 ± 1.275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101.743 ± 4.454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-0.001 ± 0.001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46909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Ridge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36.608 ± 8.038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69.480 ± 2.314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0.527 ± 0.075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2311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Random Forest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31.720 ± 1.812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64.880 ± 0.728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0.590 ± 0.046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158418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Extra Trees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30.113 ± 1.907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64.122 ± 0.348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0.600 ± 0.040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688418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27.049 ± 1.022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67.234 ± 1.177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0.561 ± 0.027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71766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HistGradientBoosting (squared)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29.386 ± 2.179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64.941 ± 1.546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0.588 ± 0.057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49396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27.083 ± 1.461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65.273 ± 0.643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0.586 ± 0.032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27153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Tuned HGB · nested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27.093 ± 1.159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67.308 ± 1.296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6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0.560 ± 0.029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3629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B66734A-2368-0D35-538C-F1D5F86E3CF9}"/>
              </a:ext>
            </a:extLst>
          </p:cNvPr>
          <p:cNvSpPr txBox="1"/>
          <p:nvPr/>
        </p:nvSpPr>
        <p:spPr>
          <a:xfrm>
            <a:off x="952500" y="5918200"/>
            <a:ext cx="1041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950">
                <a:solidFill>
                  <a:srgbClr val="ADC0C5"/>
                </a:solidFill>
                <a:latin typeface="Arial" panose="020B0604020202020204" pitchFamily="34" charset="0"/>
              </a:rPr>
              <a:t>Nested tuning: 3 outer × 3 inner folds. No CV score for validation-composed ensembles.</a:t>
            </a:r>
          </a:p>
        </p:txBody>
      </p:sp>
    </p:spTree>
    <p:extLst>
      <p:ext uri="{BB962C8B-B14F-4D97-AF65-F5344CB8AC3E}">
        <p14:creationId xmlns:p14="http://schemas.microsoft.com/office/powerpoint/2010/main" val="370916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038ABC-5A16-D9BD-538C-79797EB4BC66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33DC3-44A2-D1E9-45C8-55D85282E8FA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تشخيص الأخطاء والبواقي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CF83B1-AEF2-BAB5-4DA7-6DC6FA730616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C5F30FD-0BD2-1DAD-58FC-7F4C767A89A9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D816B-A8A3-A9B9-350C-769480847748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B7F09-5C38-994A-F465-A2CAE71F3C92}"/>
              </a:ext>
            </a:extLst>
          </p:cNvPr>
          <p:cNvSpPr txBox="1"/>
          <p:nvPr/>
        </p:nvSpPr>
        <p:spPr>
          <a:xfrm>
            <a:off x="6959600" y="1422400"/>
            <a:ext cx="444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400" b="1">
                <a:solidFill>
                  <a:srgbClr val="A0E7D7"/>
                </a:solidFill>
                <a:latin typeface="Arial" panose="020B0604020202020204" pitchFamily="34" charset="0"/>
              </a:rPr>
              <a:t>Selected model | held-out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EFC9D-38DC-039F-256B-1D790C1D1E01}"/>
              </a:ext>
            </a:extLst>
          </p:cNvPr>
          <p:cNvSpPr txBox="1"/>
          <p:nvPr/>
        </p:nvSpPr>
        <p:spPr>
          <a:xfrm>
            <a:off x="2413000" y="1905000"/>
            <a:ext cx="901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1F6F2"/>
                </a:solidFill>
                <a:latin typeface="Arial" panose="020B0604020202020204" pitchFamily="34" charset="0"/>
              </a:rPr>
              <a:t>MAE  22.385 Wh     RMSE  58.723 Wh     R²  0.583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84D665-6CAF-D55A-803B-5499BC72253F}"/>
              </a:ext>
            </a:extLst>
          </p:cNvPr>
          <p:cNvCxnSpPr/>
          <p:nvPr/>
        </p:nvCxnSpPr>
        <p:spPr>
          <a:xfrm>
            <a:off x="825500" y="25781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C40109E-4D33-34DB-F7D1-C0D79F96D8B1}"/>
              </a:ext>
            </a:extLst>
          </p:cNvPr>
          <p:cNvSpPr txBox="1"/>
          <p:nvPr/>
        </p:nvSpPr>
        <p:spPr>
          <a:xfrm>
            <a:off x="6985000" y="2806700"/>
            <a:ext cx="438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400" b="1">
                <a:solidFill>
                  <a:srgbClr val="A0E7D7"/>
                </a:solidFill>
                <a:latin typeface="Arial" panose="020B0604020202020204" pitchFamily="34" charset="0"/>
              </a:rPr>
              <a:t>MAE by time block / demand range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7B9C2-3AAF-6F4B-6AA3-3749B5B1A1C0}"/>
              </a:ext>
            </a:extLst>
          </p:cNvPr>
          <p:cNvSpPr txBox="1"/>
          <p:nvPr/>
        </p:nvSpPr>
        <p:spPr>
          <a:xfrm>
            <a:off x="825500" y="33909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>
                <a:solidFill>
                  <a:srgbClr val="ADC0C5"/>
                </a:solidFill>
                <a:latin typeface="Arial" panose="020B0604020202020204" pitchFamily="34" charset="0"/>
              </a:rPr>
              <a:t>الثلث الزمني 1</a:t>
            </a:r>
            <a:endParaRPr lang="en-US" sz="13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86EF6-CC9A-0858-353E-B55CF3C410A6}"/>
              </a:ext>
            </a:extLst>
          </p:cNvPr>
          <p:cNvSpPr/>
          <p:nvPr/>
        </p:nvSpPr>
        <p:spPr>
          <a:xfrm>
            <a:off x="2908300" y="34544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2AA39F-8615-1700-9022-AB3F9A92E51C}"/>
              </a:ext>
            </a:extLst>
          </p:cNvPr>
          <p:cNvSpPr/>
          <p:nvPr/>
        </p:nvSpPr>
        <p:spPr>
          <a:xfrm>
            <a:off x="2908300" y="3454400"/>
            <a:ext cx="15748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191E4-096B-3E9C-BFF8-E0C2696736FE}"/>
              </a:ext>
            </a:extLst>
          </p:cNvPr>
          <p:cNvSpPr txBox="1"/>
          <p:nvPr/>
        </p:nvSpPr>
        <p:spPr>
          <a:xfrm>
            <a:off x="9982200" y="33655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20.4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F07F7-EDA5-AACD-B559-4233DEFD527F}"/>
              </a:ext>
            </a:extLst>
          </p:cNvPr>
          <p:cNvSpPr txBox="1"/>
          <p:nvPr/>
        </p:nvSpPr>
        <p:spPr>
          <a:xfrm>
            <a:off x="825500" y="38735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>
                <a:solidFill>
                  <a:srgbClr val="ADC0C5"/>
                </a:solidFill>
                <a:latin typeface="Arial" panose="020B0604020202020204" pitchFamily="34" charset="0"/>
              </a:rPr>
              <a:t>الثلث الزمني 2</a:t>
            </a:r>
            <a:endParaRPr lang="en-US" sz="13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0E0749-4DEB-5978-CCCA-C6B148D09958}"/>
              </a:ext>
            </a:extLst>
          </p:cNvPr>
          <p:cNvSpPr/>
          <p:nvPr/>
        </p:nvSpPr>
        <p:spPr>
          <a:xfrm>
            <a:off x="2908300" y="39370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ED80C5-1E6A-7EEB-5FE9-81C739A920C4}"/>
              </a:ext>
            </a:extLst>
          </p:cNvPr>
          <p:cNvSpPr/>
          <p:nvPr/>
        </p:nvSpPr>
        <p:spPr>
          <a:xfrm>
            <a:off x="2908300" y="3937000"/>
            <a:ext cx="13970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CD4B0E-9550-D356-AC16-B2BCFA5093BB}"/>
              </a:ext>
            </a:extLst>
          </p:cNvPr>
          <p:cNvSpPr txBox="1"/>
          <p:nvPr/>
        </p:nvSpPr>
        <p:spPr>
          <a:xfrm>
            <a:off x="9982200" y="38481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18.2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64FDD-D780-6515-47C2-0DC85DE2CA2A}"/>
              </a:ext>
            </a:extLst>
          </p:cNvPr>
          <p:cNvSpPr txBox="1"/>
          <p:nvPr/>
        </p:nvSpPr>
        <p:spPr>
          <a:xfrm>
            <a:off x="825500" y="43561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>
                <a:solidFill>
                  <a:srgbClr val="ADC0C5"/>
                </a:solidFill>
                <a:latin typeface="Arial" panose="020B0604020202020204" pitchFamily="34" charset="0"/>
              </a:rPr>
              <a:t>الثلث الزمني 3</a:t>
            </a:r>
            <a:endParaRPr lang="en-US" sz="13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DCA3CC-0937-D907-CD7F-4F479D766A40}"/>
              </a:ext>
            </a:extLst>
          </p:cNvPr>
          <p:cNvSpPr/>
          <p:nvPr/>
        </p:nvSpPr>
        <p:spPr>
          <a:xfrm>
            <a:off x="2908300" y="44196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D76982-B1A9-3550-3684-9780C787CBD9}"/>
              </a:ext>
            </a:extLst>
          </p:cNvPr>
          <p:cNvSpPr/>
          <p:nvPr/>
        </p:nvSpPr>
        <p:spPr>
          <a:xfrm>
            <a:off x="2908300" y="4419600"/>
            <a:ext cx="2197100" cy="1524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133050-3D2F-0F39-CFBB-AD5A9ECD659C}"/>
              </a:ext>
            </a:extLst>
          </p:cNvPr>
          <p:cNvSpPr txBox="1"/>
          <p:nvPr/>
        </p:nvSpPr>
        <p:spPr>
          <a:xfrm>
            <a:off x="9982200" y="43307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28.6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4138BB-B701-D761-30FB-DCC115690748}"/>
              </a:ext>
            </a:extLst>
          </p:cNvPr>
          <p:cNvSpPr txBox="1"/>
          <p:nvPr/>
        </p:nvSpPr>
        <p:spPr>
          <a:xfrm>
            <a:off x="825500" y="4838700"/>
            <a:ext cx="190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300">
                <a:solidFill>
                  <a:srgbClr val="ADC0C5"/>
                </a:solidFill>
                <a:latin typeface="Arial" panose="020B0604020202020204" pitchFamily="34" charset="0"/>
              </a:rPr>
              <a:t>High demand &gt;110 Wh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284F85-959E-952A-2655-2289395FC812}"/>
              </a:ext>
            </a:extLst>
          </p:cNvPr>
          <p:cNvSpPr/>
          <p:nvPr/>
        </p:nvSpPr>
        <p:spPr>
          <a:xfrm>
            <a:off x="2908300" y="4902200"/>
            <a:ext cx="6921500" cy="152400"/>
          </a:xfrm>
          <a:prstGeom prst="rect">
            <a:avLst/>
          </a:prstGeom>
          <a:solidFill>
            <a:srgbClr val="1228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EDCB31-4C4B-A320-8819-AF595D430A52}"/>
              </a:ext>
            </a:extLst>
          </p:cNvPr>
          <p:cNvSpPr/>
          <p:nvPr/>
        </p:nvSpPr>
        <p:spPr>
          <a:xfrm>
            <a:off x="2908300" y="4902200"/>
            <a:ext cx="6642100" cy="152400"/>
          </a:xfrm>
          <a:prstGeom prst="rect">
            <a:avLst/>
          </a:prstGeom>
          <a:solidFill>
            <a:srgbClr val="E3AA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7DA791-87EF-6823-88AA-2B1CFCEE93A8}"/>
              </a:ext>
            </a:extLst>
          </p:cNvPr>
          <p:cNvSpPr txBox="1"/>
          <p:nvPr/>
        </p:nvSpPr>
        <p:spPr>
          <a:xfrm>
            <a:off x="9982200" y="4813300"/>
            <a:ext cx="889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200" b="1">
                <a:solidFill>
                  <a:srgbClr val="F1F6F2"/>
                </a:solidFill>
                <a:latin typeface="Arial" panose="020B0604020202020204" pitchFamily="34" charset="0"/>
              </a:rPr>
              <a:t>86.4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32A10B-E266-4F3C-B351-1DDFDD6CE094}"/>
              </a:ext>
            </a:extLst>
          </p:cNvPr>
          <p:cNvSpPr txBox="1"/>
          <p:nvPr/>
        </p:nvSpPr>
        <p:spPr>
          <a:xfrm>
            <a:off x="8763000" y="5397500"/>
            <a:ext cx="254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 b="1">
                <a:solidFill>
                  <a:srgbClr val="ADC0C5"/>
                </a:solidFill>
                <a:latin typeface="Arial" panose="020B0604020202020204" pitchFamily="34" charset="0"/>
              </a:rPr>
              <a:t>مئينات الخطأ المطلق</a:t>
            </a:r>
            <a:endParaRPr lang="en-US" sz="1300" b="1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7F1498-5755-5EB4-09B2-4F5757547DDF}"/>
              </a:ext>
            </a:extLst>
          </p:cNvPr>
          <p:cNvSpPr txBox="1"/>
          <p:nvPr/>
        </p:nvSpPr>
        <p:spPr>
          <a:xfrm>
            <a:off x="1270000" y="5803900"/>
            <a:ext cx="10160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00">
                <a:solidFill>
                  <a:srgbClr val="F1F6F2"/>
                </a:solidFill>
                <a:latin typeface="Arial" panose="020B0604020202020204" pitchFamily="34" charset="0"/>
              </a:rPr>
              <a:t>P50  7.85 Wh       P90  41.13 Wh       P95  109.36 Wh       P99  297.15 Wh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49568-D5C9-51CD-AC60-3E578D3371B2}"/>
              </a:ext>
            </a:extLst>
          </p:cNvPr>
          <p:cNvSpPr txBox="1"/>
          <p:nvPr/>
        </p:nvSpPr>
        <p:spPr>
          <a:xfrm>
            <a:off x="1117600" y="6146800"/>
            <a:ext cx="1028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000">
                <a:solidFill>
                  <a:srgbClr val="E3AA63"/>
                </a:solidFill>
                <a:latin typeface="Arial" panose="020B0604020202020204" pitchFamily="34" charset="0"/>
              </a:rPr>
              <a:t>Largest miss | Actual 580 Wh  ·  Predicted 59.72 Wh  ·  Absolute error 520.28 Wh</a:t>
            </a:r>
          </a:p>
        </p:txBody>
      </p:sp>
    </p:spTree>
    <p:extLst>
      <p:ext uri="{BB962C8B-B14F-4D97-AF65-F5344CB8AC3E}">
        <p14:creationId xmlns:p14="http://schemas.microsoft.com/office/powerpoint/2010/main" val="27907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EFC6C4-6E5E-CF45-249F-E9DFBC5032B2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295BD5-7314-5822-AED4-C277732486C7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كشف الانحرافات: تجربة اصطناعية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A5A9C6-0D40-53A7-C41B-D0135429D979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17180A-E275-8524-9054-C183AF477273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92CF4E-C11F-C773-9C72-E324C2D4D032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B283E-DDA9-EE02-ED38-9845E604EBFF}"/>
              </a:ext>
            </a:extLst>
          </p:cNvPr>
          <p:cNvSpPr txBox="1"/>
          <p:nvPr/>
        </p:nvSpPr>
        <p:spPr>
          <a:xfrm>
            <a:off x="1143000" y="1409700"/>
            <a:ext cx="10287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>
                <a:solidFill>
                  <a:srgbClr val="ADC0C5"/>
                </a:solidFill>
                <a:latin typeface="Arial" panose="020B0604020202020204" pitchFamily="34" charset="0"/>
              </a:rPr>
              <a:t>لا توجد تسميات حقيقية للشذوذ؛ أُضيفت 60 قفزة موجبة بقوة ضعفي الانحراف المعياري إلى نسخة من الاختبار.</a:t>
            </a:r>
            <a:endParaRPr lang="en-US" sz="14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6F63C2-CADB-FAC4-79A6-C6939772D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001556"/>
              </p:ext>
            </p:extLst>
          </p:nvPr>
        </p:nvGraphicFramePr>
        <p:xfrm>
          <a:off x="838200" y="2260600"/>
          <a:ext cx="10515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500">
                  <a:extLst>
                    <a:ext uri="{9D8B030D-6E8A-4147-A177-3AD203B41FA5}">
                      <a16:colId xmlns:a16="http://schemas.microsoft.com/office/drawing/2014/main" val="32960771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16666343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47382168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25667764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697211973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l" rtl="1"/>
                      <a:r>
                        <a:rPr lang="ar-SA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الكاشف والحد</a:t>
                      </a:r>
                      <a:endParaRPr lang="en-US" sz="12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F1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2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69786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ar-SA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حد البواقي: مئين 99 على التحقق</a:t>
                      </a:r>
                      <a:endParaRPr lang="en-US" sz="12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0.017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0.263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13372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Isolation Forest (training p99)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0.035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0.083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0.049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0.022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061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2FE672-9F2D-17B9-637A-F84DEAF9D94F}"/>
              </a:ext>
            </a:extLst>
          </p:cNvPr>
          <p:cNvSpPr txBox="1"/>
          <p:nvPr/>
        </p:nvSpPr>
        <p:spPr>
          <a:xfrm>
            <a:off x="9271000" y="4152900"/>
            <a:ext cx="2095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آلية العمل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D1649A-640B-CFE4-5DB9-7CA1205C82A9}"/>
              </a:ext>
            </a:extLst>
          </p:cNvPr>
          <p:cNvSpPr/>
          <p:nvPr/>
        </p:nvSpPr>
        <p:spPr>
          <a:xfrm>
            <a:off x="7810500" y="4648200"/>
            <a:ext cx="31750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بواقي التنبؤ
عتبة من التحقق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331237-6D69-B2FD-BC57-39DC96BA82E2}"/>
              </a:ext>
            </a:extLst>
          </p:cNvPr>
          <p:cNvSpPr/>
          <p:nvPr/>
        </p:nvSpPr>
        <p:spPr>
          <a:xfrm>
            <a:off x="4064000" y="4648200"/>
            <a:ext cx="31750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E3A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en-US" sz="1350" b="1">
                <a:solidFill>
                  <a:srgbClr val="F1F6F2"/>
                </a:solidFill>
                <a:latin typeface="Arial" panose="020B0604020202020204" pitchFamily="34" charset="0"/>
              </a:rPr>
              <a:t>Isolation Forest
</a:t>
            </a:r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ملاءمة على التدريب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E6DCCC-F03E-00AB-055C-A438268213DA}"/>
              </a:ext>
            </a:extLst>
          </p:cNvPr>
          <p:cNvSpPr/>
          <p:nvPr/>
        </p:nvSpPr>
        <p:spPr>
          <a:xfrm>
            <a:off x="850900" y="4648200"/>
            <a:ext cx="2730500" cy="698500"/>
          </a:xfrm>
          <a:prstGeom prst="roundRect">
            <a:avLst/>
          </a:prstGeom>
          <a:solidFill>
            <a:srgbClr val="122832"/>
          </a:solidFill>
          <a:ln w="15240">
            <a:solidFill>
              <a:srgbClr val="46C7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 rtl="1"/>
            <a:r>
              <a:rPr lang="ar-SA" sz="1350" b="1">
                <a:solidFill>
                  <a:srgbClr val="F1F6F2"/>
                </a:solidFill>
                <a:latin typeface="Arial" panose="020B0604020202020204" pitchFamily="34" charset="0"/>
              </a:rPr>
              <a:t>إشارة للمراجعة
لا تشخيص آلي</a:t>
            </a:r>
            <a:endParaRPr lang="en-US" sz="135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66B281-158B-2D61-3D25-CC3480244879}"/>
              </a:ext>
            </a:extLst>
          </p:cNvPr>
          <p:cNvCxnSpPr/>
          <p:nvPr/>
        </p:nvCxnSpPr>
        <p:spPr>
          <a:xfrm flipH="1">
            <a:off x="7289800" y="5003800"/>
            <a:ext cx="520700" cy="0"/>
          </a:xfrm>
          <a:prstGeom prst="straightConnector1">
            <a:avLst/>
          </a:prstGeom>
          <a:ln w="1524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E2086C-F02B-4F33-DC8E-BF1E71B6C484}"/>
              </a:ext>
            </a:extLst>
          </p:cNvPr>
          <p:cNvCxnSpPr/>
          <p:nvPr/>
        </p:nvCxnSpPr>
        <p:spPr>
          <a:xfrm flipH="1">
            <a:off x="3632200" y="5003800"/>
            <a:ext cx="431800" cy="0"/>
          </a:xfrm>
          <a:prstGeom prst="straightConnector1">
            <a:avLst/>
          </a:prstGeom>
          <a:ln w="15240">
            <a:solidFill>
              <a:srgbClr val="A0E7D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B94772-E6CC-2454-3002-0CF844563567}"/>
              </a:ext>
            </a:extLst>
          </p:cNvPr>
          <p:cNvSpPr txBox="1"/>
          <p:nvPr/>
        </p:nvSpPr>
        <p:spPr>
          <a:xfrm>
            <a:off x="1308100" y="57785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400" b="1">
                <a:solidFill>
                  <a:srgbClr val="E3AA63"/>
                </a:solidFill>
                <a:latin typeface="Arial" panose="020B0604020202020204" pitchFamily="34" charset="0"/>
              </a:rPr>
              <a:t>الأرقام ضعيفة ومقيدة بتصميم الحقن الاصطناعي، ولا تقيس اكتشاف أحداث طبيعية.</a:t>
            </a:r>
            <a:endParaRPr lang="en-US" sz="1400" b="1">
              <a:solidFill>
                <a:srgbClr val="E3A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360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B11CCA-8E96-5C71-3FD1-60F3845A53EA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07193-EEDC-F214-BD02-4AD6C0066B78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التفسير واختبار مجموعات الخصائص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E018FD-9F1A-00F4-7E04-3DA01474665F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1DC63E-F383-CD4D-50E7-77BACB9D0B4F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9DA29-9638-889C-0986-61BCEADF5B2A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64FFB-CDD7-6AC8-0296-AB9D366F0D79}"/>
              </a:ext>
            </a:extLst>
          </p:cNvPr>
          <p:cNvSpPr txBox="1"/>
          <p:nvPr/>
        </p:nvSpPr>
        <p:spPr>
          <a:xfrm>
            <a:off x="5715000" y="1384300"/>
            <a:ext cx="56515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50" b="1">
                <a:solidFill>
                  <a:srgbClr val="A0E7D7"/>
                </a:solidFill>
                <a:latin typeface="Arial" panose="020B0604020202020204" pitchFamily="34" charset="0"/>
              </a:rPr>
              <a:t>اختبار إزالة الخصائص • تحقق على </a:t>
            </a:r>
            <a:r>
              <a:rPr lang="en-US" sz="1350" b="1">
                <a:solidFill>
                  <a:srgbClr val="A0E7D7"/>
                </a:solidFill>
                <a:latin typeface="Arial" panose="020B0604020202020204" pitchFamily="34" charset="0"/>
              </a:rPr>
              <a:t>HistGradientBoosting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8EBC25-0661-49A2-8AB1-BD247BEE7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9531"/>
              </p:ext>
            </p:extLst>
          </p:nvPr>
        </p:nvGraphicFramePr>
        <p:xfrm>
          <a:off x="736600" y="1866900"/>
          <a:ext cx="10718800" cy="181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900">
                  <a:extLst>
                    <a:ext uri="{9D8B030D-6E8A-4147-A177-3AD203B41FA5}">
                      <a16:colId xmlns:a16="http://schemas.microsoft.com/office/drawing/2014/main" val="60332786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21033438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10039619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7078993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421086267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algn="l" rtl="1"/>
                      <a:r>
                        <a:rPr lang="ar-SA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مجموعة الخصائص</a:t>
                      </a:r>
                      <a:endParaRPr lang="en-US" sz="115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العدد</a:t>
                      </a:r>
                      <a:endParaRPr lang="en-US" sz="115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MAE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RMSE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15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26657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ar-SA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كل الخصائص</a:t>
                      </a:r>
                      <a:endParaRPr lang="en-US" sz="11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22.121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57.325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0.596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14425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ar-SA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دون تاريخ الاستهلاك</a:t>
                      </a:r>
                      <a:endParaRPr lang="en-US" sz="11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22.265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57.473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0.594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09376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l"/>
                      <a:r>
                        <a:rPr lang="ar-SA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أفضل 20 بمعلومة متبادلة</a:t>
                      </a:r>
                      <a:endParaRPr lang="en-US" sz="115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22.012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57.264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0.597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284938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111383-37E0-F85B-EE91-9CFFA3D35531}"/>
              </a:ext>
            </a:extLst>
          </p:cNvPr>
          <p:cNvCxnSpPr/>
          <p:nvPr/>
        </p:nvCxnSpPr>
        <p:spPr>
          <a:xfrm>
            <a:off x="812800" y="4102100"/>
            <a:ext cx="105664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4D9A10-2D47-A9B8-7920-67ED353D64FF}"/>
              </a:ext>
            </a:extLst>
          </p:cNvPr>
          <p:cNvSpPr txBox="1"/>
          <p:nvPr/>
        </p:nvSpPr>
        <p:spPr>
          <a:xfrm>
            <a:off x="6769100" y="4381500"/>
            <a:ext cx="4572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أهم إشارة في النموذج المختار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DD2D68-C977-BD8A-28F6-A1655B61F09E}"/>
              </a:ext>
            </a:extLst>
          </p:cNvPr>
          <p:cNvSpPr txBox="1"/>
          <p:nvPr/>
        </p:nvSpPr>
        <p:spPr>
          <a:xfrm>
            <a:off x="5397500" y="4838700"/>
            <a:ext cx="59436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200" b="1">
                <a:solidFill>
                  <a:srgbClr val="F1F6F2"/>
                </a:solidFill>
                <a:latin typeface="Arial" panose="020B0604020202020204" pitchFamily="34" charset="0"/>
              </a:rPr>
              <a:t>الاستهلاك الحالي للأجهزة</a:t>
            </a:r>
            <a:endParaRPr lang="en-US" sz="22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3B99EE-501C-3C6D-087D-B3AC42D981C1}"/>
              </a:ext>
            </a:extLst>
          </p:cNvPr>
          <p:cNvSpPr txBox="1"/>
          <p:nvPr/>
        </p:nvSpPr>
        <p:spPr>
          <a:xfrm>
            <a:off x="1397000" y="5473700"/>
            <a:ext cx="99441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00">
                <a:solidFill>
                  <a:srgbClr val="ADC0C5"/>
                </a:solidFill>
                <a:latin typeface="Arial" panose="020B0604020202020204" pitchFamily="34" charset="0"/>
              </a:rPr>
              <a:t>تليها التغيرات الحديثة والتأخيرات. قِسنا اعتماد النموذج من تغير متوسط الخطأ المطلق على بيانات التدريب.</a:t>
            </a:r>
            <a:endParaRPr lang="en-US" sz="1300">
              <a:solidFill>
                <a:srgbClr val="ADC0C5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E1242-D0F2-B0A6-8A6F-DEEB65B1694F}"/>
              </a:ext>
            </a:extLst>
          </p:cNvPr>
          <p:cNvSpPr txBox="1"/>
          <p:nvPr/>
        </p:nvSpPr>
        <p:spPr>
          <a:xfrm>
            <a:off x="4699000" y="6083300"/>
            <a:ext cx="6604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250" b="1">
                <a:solidFill>
                  <a:srgbClr val="E3AA63"/>
                </a:solidFill>
                <a:latin typeface="Arial" panose="020B0604020202020204" pitchFamily="34" charset="0"/>
              </a:rPr>
              <a:t>الأهمية تشرح اعتماد النموذج ولا تثبت سبب الاستهلاك.</a:t>
            </a:r>
            <a:endParaRPr lang="en-US" sz="1250" b="1">
              <a:solidFill>
                <a:srgbClr val="E3A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06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38BCFA-C451-2ECA-513A-75660371E758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D8F6D-4770-B353-3C3E-7D956ECCB58F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واجهة المشروع: النظرة العامة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9FBCAD-C1D7-9E6E-4488-FC2B5D852EF5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17B918-F35C-A09D-494E-A2C1B6166B12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7EEE1-9185-FB88-88C9-B587303CADE0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F8BC5A-43BC-DAED-0BDF-EF530CE53F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295400"/>
            <a:ext cx="9575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9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1DE1A2-F631-ECDD-3986-C65CED3A6248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51AD9-0BEC-8D61-063F-98216F99C864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واجهة المشروع: مقارنة النماذج والوضع الداكن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B7DD15-4444-4397-41B3-CF6E66B2BE81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094824-1AEB-9656-EB9D-18535C7DFBF4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CF7AA-C5DB-1465-3EB9-B0AE1C3419E6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C9611-4ED1-3ED2-87A3-FF5B596D2C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295400"/>
            <a:ext cx="9575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3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F2863B-397F-1915-9D93-CC14FA084089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415E3-69BC-B3E7-F76F-1C4CC5FB1800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المخرجات وقابلية إعادة التشغيل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1B8C41-C893-94B4-5FE4-78CDEB91A018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718873-3426-B167-3710-C4D61BEE7CC5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7312B-0749-2B8B-386C-BA109327BC6C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7241A-E9CB-A63F-7CEB-11A37F48B7B7}"/>
              </a:ext>
            </a:extLst>
          </p:cNvPr>
          <p:cNvSpPr txBox="1"/>
          <p:nvPr/>
        </p:nvSpPr>
        <p:spPr>
          <a:xfrm>
            <a:off x="8394700" y="1473200"/>
            <a:ext cx="29972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ملفات التشغيل الرئيسية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10E4B07-CDEC-C8E3-F205-B84595F38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52516"/>
              </p:ext>
            </p:extLst>
          </p:nvPr>
        </p:nvGraphicFramePr>
        <p:xfrm>
          <a:off x="762000" y="1968500"/>
          <a:ext cx="10668000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3998017053"/>
                    </a:ext>
                  </a:extLst>
                </a:gridCol>
                <a:gridCol w="7556500">
                  <a:extLst>
                    <a:ext uri="{9D8B030D-6E8A-4147-A177-3AD203B41FA5}">
                      <a16:colId xmlns:a16="http://schemas.microsoft.com/office/drawing/2014/main" val="167117849"/>
                    </a:ext>
                  </a:extLst>
                </a:gridCol>
              </a:tblGrid>
              <a:tr h="408517">
                <a:tc>
                  <a:txBody>
                    <a:bodyPr/>
                    <a:lstStyle/>
                    <a:p>
                      <a:pPr algn="l" rtl="1"/>
                      <a:r>
                        <a:rPr lang="ar-SA" sz="113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الغرض</a:t>
                      </a:r>
                      <a:endParaRPr lang="en-US" sz="113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13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الملف</a:t>
                      </a:r>
                      <a:endParaRPr lang="en-US" sz="113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5633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ar-SA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نموذج واستدلال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artifacts/wattwise_bundle.joblib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1688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ar-SA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مقارنة المرشحين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reports/model_comparison.csv</a:t>
                      </a: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062985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ar-SA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مقاييس وتشخيص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reports/metrics/final_metrics.json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374510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ar-SA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سلامة التشغيل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reports/metrics/artifact_manifest.json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95911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ar-SA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أخطاء الاختبار</a:t>
                      </a:r>
                      <a:endParaRPr lang="en-US" sz="113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3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reports/metrics/largest_test_errors.csv</a:t>
                      </a: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2373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B2950B-6505-C39C-4E65-8F241EFAEBBD}"/>
              </a:ext>
            </a:extLst>
          </p:cNvPr>
          <p:cNvCxnSpPr/>
          <p:nvPr/>
        </p:nvCxnSpPr>
        <p:spPr>
          <a:xfrm>
            <a:off x="825500" y="4813300"/>
            <a:ext cx="105410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588ADC-1DFE-2E76-F0FE-D2474789A2D9}"/>
              </a:ext>
            </a:extLst>
          </p:cNvPr>
          <p:cNvSpPr txBox="1"/>
          <p:nvPr/>
        </p:nvSpPr>
        <p:spPr>
          <a:xfrm>
            <a:off x="8890000" y="5029200"/>
            <a:ext cx="241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تحقق المشروع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097DC-DC98-9F03-F004-ABE5AED0417A}"/>
              </a:ext>
            </a:extLst>
          </p:cNvPr>
          <p:cNvSpPr txBox="1"/>
          <p:nvPr/>
        </p:nvSpPr>
        <p:spPr>
          <a:xfrm>
            <a:off x="3619500" y="5473700"/>
            <a:ext cx="7683500" cy="45781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350">
                <a:solidFill>
                  <a:srgbClr val="F1F6F2"/>
                </a:solidFill>
                <a:latin typeface="Arial" panose="020B0604020202020204" pitchFamily="34" charset="0"/>
              </a:rPr>
              <a:t>28 اختبارًا آليًا ناجحًا • فحص جودة الكود والبناء ناجح
الدفاتر الأربعة نُفذت • فُحصت صفحات الواجهة ومقارنة النماذج</a:t>
            </a:r>
            <a:endParaRPr lang="en-US" sz="1350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7F6F0-FAD4-E61D-4560-E23BAD3A106B}"/>
              </a:ext>
            </a:extLst>
          </p:cNvPr>
          <p:cNvSpPr txBox="1"/>
          <p:nvPr/>
        </p:nvSpPr>
        <p:spPr>
          <a:xfrm>
            <a:off x="1270000" y="6159500"/>
            <a:ext cx="825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1100">
                <a:solidFill>
                  <a:srgbClr val="ADC0C5"/>
                </a:solidFill>
                <a:latin typeface="Arial" panose="020B0604020202020204" pitchFamily="34" charset="0"/>
              </a:rPr>
              <a:t>Train: python -m wattwise.train  |  UI: streamlit run app.py</a:t>
            </a:r>
          </a:p>
        </p:txBody>
      </p:sp>
    </p:spTree>
    <p:extLst>
      <p:ext uri="{BB962C8B-B14F-4D97-AF65-F5344CB8AC3E}">
        <p14:creationId xmlns:p14="http://schemas.microsoft.com/office/powerpoint/2010/main" val="2880620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78691C-F209-4954-9EE8-64060CE27AE5}"/>
              </a:ext>
            </a:extLst>
          </p:cNvPr>
          <p:cNvSpPr/>
          <p:nvPr/>
        </p:nvSpPr>
        <p:spPr>
          <a:xfrm>
            <a:off x="533400" y="469900"/>
            <a:ext cx="63500" cy="469900"/>
          </a:xfrm>
          <a:prstGeom prst="rect">
            <a:avLst/>
          </a:prstGeom>
          <a:solidFill>
            <a:srgbClr val="46C7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E3FD4-BD04-F144-8C59-90B8E33C9295}"/>
              </a:ext>
            </a:extLst>
          </p:cNvPr>
          <p:cNvSpPr txBox="1"/>
          <p:nvPr/>
        </p:nvSpPr>
        <p:spPr>
          <a:xfrm>
            <a:off x="838200" y="406400"/>
            <a:ext cx="10795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700" b="1">
                <a:solidFill>
                  <a:srgbClr val="F1F6F2"/>
                </a:solidFill>
                <a:latin typeface="Arial" panose="020B0604020202020204" pitchFamily="34" charset="0"/>
              </a:rPr>
              <a:t>حدود المشروع والخطوات التالية</a:t>
            </a:r>
            <a:endParaRPr lang="en-US" sz="27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77FDED-250D-5761-D3CF-D5E0BFF88DCC}"/>
              </a:ext>
            </a:extLst>
          </p:cNvPr>
          <p:cNvCxnSpPr/>
          <p:nvPr/>
        </p:nvCxnSpPr>
        <p:spPr>
          <a:xfrm>
            <a:off x="533400" y="1117600"/>
            <a:ext cx="11125200" cy="0"/>
          </a:xfrm>
          <a:prstGeom prst="straightConnector1">
            <a:avLst/>
          </a:prstGeom>
          <a:ln w="10160">
            <a:solidFill>
              <a:srgbClr val="394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BFD60F6-7B59-020B-0371-EE45C84975E8}"/>
              </a:ext>
            </a:extLst>
          </p:cNvPr>
          <p:cNvSpPr txBox="1"/>
          <p:nvPr/>
        </p:nvSpPr>
        <p:spPr>
          <a:xfrm>
            <a:off x="533400" y="6502400"/>
            <a:ext cx="9906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sz="850">
                <a:solidFill>
                  <a:srgbClr val="73878C"/>
                </a:solidFill>
                <a:latin typeface="Arial" panose="020B0604020202020204" pitchFamily="34" charset="0"/>
              </a:rPr>
              <a:t>WattWise AI  |  Advanced 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14165-8279-5C61-0886-6964566EBB40}"/>
              </a:ext>
            </a:extLst>
          </p:cNvPr>
          <p:cNvSpPr txBox="1"/>
          <p:nvPr/>
        </p:nvSpPr>
        <p:spPr>
          <a:xfrm>
            <a:off x="11112500" y="6477000"/>
            <a:ext cx="5334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46C7B8"/>
                </a:solidFill>
                <a:latin typeface="Arial" panose="020B0604020202020204" pitchFamily="34" charset="0"/>
              </a:rPr>
              <a:t>18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2060B3-867C-0FC0-63DF-16E5869C4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611766"/>
              </p:ext>
            </p:extLst>
          </p:nvPr>
        </p:nvGraphicFramePr>
        <p:xfrm>
          <a:off x="736600" y="1689100"/>
          <a:ext cx="107188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06377129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634325175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 algn="l" rtl="1"/>
                      <a:r>
                        <a:rPr lang="ar-SA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المجال</a:t>
                      </a:r>
                      <a:endParaRPr lang="en-US" sz="13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ar-SA" sz="1300" b="1">
                          <a:solidFill>
                            <a:srgbClr val="A0E7D7"/>
                          </a:solidFill>
                          <a:latin typeface="Arial" panose="020B0604020202020204" pitchFamily="34" charset="0"/>
                        </a:rPr>
                        <a:t>الاستنتاج</a:t>
                      </a:r>
                      <a:endParaRPr lang="en-US" sz="1300" b="1">
                        <a:solidFill>
                          <a:srgbClr val="A0E7D7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B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162468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تعميم محدود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منزل واحد وفترة زمنية محدودة؛ الأداء في منازل أخرى غير مختبر.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12487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قمم الاستهلاك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الأخطاء أكبر في الفترات ذات الاستهلاك المرتفع والنصف المتأخر.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665475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وسوم الشذوذ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لا توجد أحداث حقيقية معلّمة للتحقق من كشف الهدر.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228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535457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خطوات تالية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300" b="0">
                          <a:solidFill>
                            <a:srgbClr val="F1F6F2"/>
                          </a:solidFill>
                          <a:latin typeface="Arial" panose="020B0604020202020204" pitchFamily="34" charset="0"/>
                        </a:rPr>
                        <a:t>بيانات من منازل أكثر، وسوم مؤكدة، ورصد الانجراف، وتقييم عدم اليقين.</a:t>
                      </a:r>
                      <a:endParaRPr lang="en-US" sz="1300" b="0">
                        <a:solidFill>
                          <a:srgbClr val="F1F6F2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R="76200" marT="25400" marB="25400" anchor="ctr">
                    <a:solidFill>
                      <a:srgbClr val="1A2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02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064C002-BDB8-4DDA-8290-EF59201D910A}"/>
              </a:ext>
            </a:extLst>
          </p:cNvPr>
          <p:cNvSpPr txBox="1"/>
          <p:nvPr/>
        </p:nvSpPr>
        <p:spPr>
          <a:xfrm>
            <a:off x="9309100" y="4953000"/>
            <a:ext cx="2032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1600" b="1">
                <a:solidFill>
                  <a:srgbClr val="A0E7D7"/>
                </a:solidFill>
                <a:latin typeface="Arial" panose="020B0604020202020204" pitchFamily="34" charset="0"/>
              </a:rPr>
              <a:t>الخلاصة</a:t>
            </a:r>
            <a:endParaRPr lang="en-US" sz="1600" b="1">
              <a:solidFill>
                <a:srgbClr val="A0E7D7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709FB-F8C9-3CF8-2D6C-6AF0C08D78EF}"/>
              </a:ext>
            </a:extLst>
          </p:cNvPr>
          <p:cNvSpPr txBox="1"/>
          <p:nvPr/>
        </p:nvSpPr>
        <p:spPr>
          <a:xfrm>
            <a:off x="1333500" y="5372100"/>
            <a:ext cx="10033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l" rtl="1"/>
            <a:r>
              <a:rPr lang="ar-SA" sz="2000" b="1">
                <a:solidFill>
                  <a:srgbClr val="F1F6F2"/>
                </a:solidFill>
                <a:latin typeface="Arial" panose="020B0604020202020204" pitchFamily="34" charset="0"/>
              </a:rPr>
              <a:t>نتنبأ بالاستهلاك القادم، ونُظهر الانحرافات لتوجيه المراجعة البشرية.</a:t>
            </a:r>
            <a:endParaRPr lang="en-US" sz="2000" b="1">
              <a:solidFill>
                <a:srgbClr val="F1F6F2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6E5F5-3E50-C6E7-B453-31420BBD1338}"/>
              </a:ext>
            </a:extLst>
          </p:cNvPr>
          <p:cNvSpPr txBox="1"/>
          <p:nvPr/>
        </p:nvSpPr>
        <p:spPr>
          <a:xfrm>
            <a:off x="3302000" y="6070600"/>
            <a:ext cx="8001000" cy="24173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46C7B8"/>
                </a:solidFill>
                <a:latin typeface="Arial" panose="020B0604020202020204" pitchFamily="34" charset="0"/>
              </a:rPr>
              <a:t>WattWise AI  •  Advanced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13513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Custom</PresentationFormat>
  <Paragraphs>355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Al Ghonimi</dc:creator>
  <cp:lastModifiedBy>Abdelrahman Al Ghonimi</cp:lastModifiedBy>
  <cp:revision>1</cp:revision>
  <dcterms:created xsi:type="dcterms:W3CDTF">2026-10-22T23:00:31Z</dcterms:created>
  <dcterms:modified xsi:type="dcterms:W3CDTF">2026-10-22T23:00:31Z</dcterms:modified>
</cp:coreProperties>
</file>